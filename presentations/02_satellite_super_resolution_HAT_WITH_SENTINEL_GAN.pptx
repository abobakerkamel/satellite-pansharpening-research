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8" r:id="rId69"/>
    <p:sldId id="319" r:id="rId70"/>
    <p:sldId id="320" r:id="rId71"/>
    <p:sldId id="321" r:id="rId72"/>
    <p:sldId id="322" r:id="rId73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23" r:id="rId74"/>
    <p:sldId id="324" r:id="rId75"/>
    <p:sldId id="315" r:id="rId61"/>
    <p:sldId id="316" r:id="rId62"/>
    <p:sldId id="317" r:id="rId63"/>
  </p:sldIdLst>
  <p:notesMasterIdLst>
    <p:notesMasterId r:id="rId6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6.xml"/><Relationship Id="rId53" Type="http://schemas.openxmlformats.org/officeDocument/2006/relationships/slide" Target="slides/slide57.xml"/><Relationship Id="rId54" Type="http://schemas.openxmlformats.org/officeDocument/2006/relationships/slide" Target="slides/slide58.xml"/><Relationship Id="rId55" Type="http://schemas.openxmlformats.org/officeDocument/2006/relationships/slide" Target="slides/slide59.xml"/><Relationship Id="rId56" Type="http://schemas.openxmlformats.org/officeDocument/2006/relationships/slide" Target="slides/slide60.xml"/><Relationship Id="rId57" Type="http://schemas.openxmlformats.org/officeDocument/2006/relationships/slide" Target="slides/slide61.xml"/><Relationship Id="rId58" Type="http://schemas.openxmlformats.org/officeDocument/2006/relationships/slide" Target="slides/slide62.xml"/><Relationship Id="rId59" Type="http://schemas.openxmlformats.org/officeDocument/2006/relationships/slide" Target="slides/slide63.xml"/><Relationship Id="rId60" Type="http://schemas.openxmlformats.org/officeDocument/2006/relationships/slide" Target="slides/slide64.xml"/><Relationship Id="rId61" Type="http://schemas.openxmlformats.org/officeDocument/2006/relationships/slide" Target="slides/slide65.xml"/><Relationship Id="rId62" Type="http://schemas.openxmlformats.org/officeDocument/2006/relationships/slide" Target="slides/slide66.xml"/><Relationship Id="rId63" Type="http://schemas.openxmlformats.org/officeDocument/2006/relationships/slide" Target="slides/slide67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slide" Target="slides/slide47.xml"/><Relationship Id="rId70" Type="http://schemas.openxmlformats.org/officeDocument/2006/relationships/slide" Target="slides/slide48.xml"/><Relationship Id="rId71" Type="http://schemas.openxmlformats.org/officeDocument/2006/relationships/slide" Target="slides/slide49.xml"/><Relationship Id="rId72" Type="http://schemas.openxmlformats.org/officeDocument/2006/relationships/slide" Target="slides/slide50.xml"/><Relationship Id="rId73" Type="http://schemas.openxmlformats.org/officeDocument/2006/relationships/slide" Target="slides/slide51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State the purpose and final output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THYNK SUPER-RESOLUTION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2351"/>
                </a:solidFill>
              </a:rPr>
              <a:t>Satellite Image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A2351"/>
                </a:solidFill>
              </a:rPr>
              <a:t>Super-Resolution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1417320" cy="7315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5669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6233A"/>
                </a:solidFill>
              </a:rPr>
              <a:t>Enhancing multispectral satellite imagery with a PAN-guided HAT architecture.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5394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3758E"/>
                </a:solidFill>
              </a:rPr>
              <a:t>A complete research pipeline for pansharpening, transfer learning, and full-resolution reconstruction.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234440"/>
            <a:ext cx="4526280" cy="2880360"/>
          </a:xfrm>
          <a:prstGeom prst="roundRect">
            <a:avLst>
              <a:gd name="adj" fmla="val 2540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68312" y="1417320"/>
            <a:ext cx="419709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2354580"/>
            <a:ext cx="4014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[OPTIONAL HERO IMAGE: satellite / earth / final result]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5166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529437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×4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3816" y="573328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Scale Factor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602589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1.2 m → 0.3 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5166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529437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465576" y="573328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Output Bands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65576" y="602589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High-resolution 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5166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529437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HAT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117336" y="573328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Core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17336" y="602589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PAN-guided fusion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ROADMAP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Presentation Roadmap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 clear path from the data problem to full-scene reconstruction.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25146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1488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219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1. Motivation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5146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0360" y="21488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22219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2.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25146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21488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2219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3. Wald Dataset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25146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21488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22219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4. Baselines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378440" y="2971800"/>
            <a:ext cx="-8961120" cy="77724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0" y="21488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22219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5. HAT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40280" y="41148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7490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8221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6. Transfer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80560" y="41148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80360" y="37490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38221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7. Fusion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1148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20640" y="37490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38221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8. Evaluation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61120" y="41148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0920" y="37490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34072" y="38221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9. Full Output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601200" y="374904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74352" y="3822192"/>
            <a:ext cx="1362456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10. Future Work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0120" y="5532120"/>
            <a:ext cx="9966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A2351"/>
                </a:solidFill>
              </a:rPr>
              <a:t>The deck uses larger text and spreads dense technical sections across more slides for readability.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Problem and Data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From satellite image characteristics to a clear super-resolution objective.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03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MOTIVATION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Satellite Super-Resolution?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aim is to combine spectral richness with spatial sharpness.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6233A"/>
                </a:solidFill>
              </a:rPr>
              <a:t>Multispectral images preserve material and land-cover information.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Their spatial resolution is often lower than the PAN image.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Panchromatic images show sharper edges and small structures.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Pansharpening combines both advantages in one HR-MS product.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4800600" cy="3337560"/>
          </a:xfrm>
          <a:prstGeom prst="roundRect">
            <a:avLst>
              <a:gd name="adj" fmla="val 2192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2057400"/>
            <a:ext cx="447141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3223260"/>
            <a:ext cx="4288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MS vs PAN visual comparison]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MOTIVATION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MS and PAN Are Complementary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Each image type carries a different part of the information.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084832"/>
            <a:ext cx="54864" cy="12710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075688"/>
            <a:ext cx="4224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2351"/>
                </a:solidFill>
              </a:rPr>
              <a:t>Multispectral Image — 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8136" y="2487168"/>
            <a:ext cx="422452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Several spectral bands. Useful for distinguishing materials, vegetation, buildings, soil, and water.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2084832"/>
            <a:ext cx="54864" cy="127101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416" y="2075688"/>
            <a:ext cx="4224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2351"/>
                </a:solidFill>
              </a:rPr>
              <a:t>Panchromatic Image — PAN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57416" y="2487168"/>
            <a:ext cx="422452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One broad band. Higher spatial resolution and clearer edges, roads, rooftops, and small objects.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Pansharpening target: preserve MS spectral content while injecting PAN spatial details.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PROBLEM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Problem Definition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Generate a six-band HR-MS image at the PAN spatial resolution.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404872"/>
            <a:ext cx="2002536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LR-MS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6 bands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1.2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50792"/>
            <a:ext cx="2002536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HR-PAN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1 band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0.3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788920"/>
            <a:ext cx="1417320" cy="365760"/>
          </a:xfrm>
          <a:prstGeom prst="line">
            <a:avLst/>
          </a:prstGeom>
          <a:noFill/>
          <a:ln w="19050">
            <a:solidFill>
              <a:srgbClr val="2867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4434840"/>
            <a:ext cx="1417320" cy="-731520"/>
          </a:xfrm>
          <a:prstGeom prst="line">
            <a:avLst/>
          </a:prstGeom>
          <a:noFill/>
          <a:ln w="19050">
            <a:solidFill>
              <a:srgbClr val="7058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00600" y="297180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044952"/>
            <a:ext cx="2093976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PAN-Guided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SR Model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3456432"/>
            <a:ext cx="105156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971800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3044952"/>
            <a:ext cx="2414016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HR-MS 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6 bands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≈ 0.3 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9875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Spectral Information + Spatial Details = High-Resolution Multispectral Image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OBJECTIVES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project covers both technical reconstruction and practical deployment.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1993392"/>
            <a:ext cx="54864" cy="8138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198424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Enhance Resolution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696" y="239572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Increase MS spatial detail from approximately 1.2 m to 0.3 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993392"/>
            <a:ext cx="54864" cy="81381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98424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Preserve Spectra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45736" y="239572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Maintain spectral consistency across the six bands.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8138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Recover Details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Improve visibility of buildings, roads, edges, and small objects.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" y="3959352"/>
            <a:ext cx="54864" cy="8138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395020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Build Pipeline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6696" y="436168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Move from raw data to validated full-resolution output.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3484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81144" y="3959352"/>
            <a:ext cx="54864" cy="8138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395020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Evaluate Models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45736" y="436168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Use PSNR, SSIM, SAM, ERGAS, and L1 on the same test set.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83880" y="37947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3959352"/>
            <a:ext cx="54864" cy="81381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94776" y="395020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Future Detection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94776" y="4361688"/>
            <a:ext cx="28072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Prepare imagery for solar-panel detection experiments.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DATA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Satellite Data Characteristics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aligned input images have a consistent ×4 spatial relationship.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4800600" cy="301752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057400"/>
            <a:ext cx="447141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063240"/>
            <a:ext cx="4288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Aligned multispectral preview]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1874520"/>
            <a:ext cx="4800600" cy="301752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7780">
            <a:solidFill>
              <a:srgbClr val="7058E8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93992" y="2057400"/>
            <a:ext cx="4471416" cy="27432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3063240"/>
            <a:ext cx="4288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Aligned panchromatic preview]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5166360"/>
            <a:ext cx="4617720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" y="5330952"/>
            <a:ext cx="54864" cy="420624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5321808"/>
            <a:ext cx="4178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2351"/>
                </a:solidFill>
              </a:rPr>
              <a:t>Multispectral Image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9576" y="5733288"/>
            <a:ext cx="4178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6 bands • 6 × 1536 × 1804 • ≈ 1.2 m/pixel • uint16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5166360"/>
            <a:ext cx="4617720" cy="749808"/>
          </a:xfrm>
          <a:prstGeom prst="roundRect">
            <a:avLst>
              <a:gd name="adj" fmla="val 9756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67144" y="5330952"/>
            <a:ext cx="54864" cy="420624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5321808"/>
            <a:ext cx="4178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2351"/>
                </a:solidFill>
              </a:rPr>
              <a:t>Panchromatic Image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31736" y="5733288"/>
            <a:ext cx="4178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 band • 1 × 6144 × 7216 • ≈ 0.3 m/pixel • uint16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ALIGNMENT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Spatial Alignment Matters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Training depends on correct pixel correspondence between MS and PAN.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130552"/>
            <a:ext cx="54864" cy="99669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12140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Same Location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33856" y="2532888"/>
            <a:ext cx="267004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MS and PAN must cover the same geographic area.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26280" y="19659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130552"/>
            <a:ext cx="54864" cy="99669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212140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Matched Edges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37176" y="2532888"/>
            <a:ext cx="267004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Building and road edges must correspond across both images.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9659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2130552"/>
            <a:ext cx="54864" cy="9966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12140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Reliable Learning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40496" y="2532888"/>
            <a:ext cx="267004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Misalignment can create blur, artifacts, and false details.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A2351"/>
                </a:solidFill>
              </a:rPr>
              <a:t>Accurate alignment is not optional; it is the foundation of the training signal.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ALIGNMENT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Data Preprocessing and Alignment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aligned files were verified before generating training patches.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443484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6233A"/>
                </a:solidFill>
              </a:rPr>
              <a:t>Coordinate reference system was verified.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Geographic bounds were matched.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Common study area was confirmed.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The spatial size ratio was confirmed as ×4.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4873752"/>
            <a:ext cx="54864" cy="384048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9576" y="486460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MS_aligned.tif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9576" y="5276088"/>
            <a:ext cx="22128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6 × 1536 × 1804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470916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4873752"/>
            <a:ext cx="54864" cy="384048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486460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PAN_aligned.tif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14216" y="5276088"/>
            <a:ext cx="2212848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 × 6144 × 7216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87452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2057400"/>
            <a:ext cx="433425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3337560"/>
            <a:ext cx="4151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Alignment check or overlay comparison]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Overall Methodology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pipeline supports both quantitative validation and full-scene reconstruction.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244144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2057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3055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Raw MS + PAN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53128" y="244144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61488" y="2057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13055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Inspection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11696" y="244144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0056" y="2057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213055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Alignment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244144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78624" y="2057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213055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Wald Dataset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360152" y="2926080"/>
            <a:ext cx="-9034272" cy="77724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37192" y="205740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213055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Baselines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94560" y="408736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70332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77647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HAT Model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53128" y="408736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761488" y="370332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77647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WV3 Transfer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11696" y="408736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20056" y="370332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377647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Adaptive Fusion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70264" y="4087368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278624" y="370332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51776" y="377647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37192" y="370332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10344" y="3776472"/>
            <a:ext cx="1545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51"/>
                </a:solidFill>
              </a:rPr>
              <a:t>Full Output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A2351"/>
                </a:solidFill>
              </a:rPr>
              <a:t>Every stage was designed to reduce leakage, support fair comparison, and prepare a practical GeoTIFF output.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Reduced-Resolution Dataset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Using the Wald protocol to create supervised training and evaluation data.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WALD DATASET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the Wald Protocol Was Needed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 true full-resolution 6-band target does not exist for the original scene.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130552"/>
            <a:ext cx="54864" cy="113385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121408"/>
            <a:ext cx="4407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Full-Resolution Reality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532888"/>
            <a:ext cx="440740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We have LR-MS and HR-PAN, but no true six-band HR-MS reference at 0.3 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2130552"/>
            <a:ext cx="54864" cy="113385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416" y="2121408"/>
            <a:ext cx="4407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Reduced-Resolution Solution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57416" y="2532888"/>
            <a:ext cx="440740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Artificially degrade the available data so the original MS image becomes the reference target.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A2351"/>
                </a:solidFill>
              </a:rPr>
              <a:t>This creates a supervised learning task with valid quantitative metrics.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WALD DATASET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Wald Protocol Concept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original MS image becomes the target in a reduced-resolution experiment.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993392"/>
            <a:ext cx="18196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Original 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1.2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2304288"/>
            <a:ext cx="868680" cy="0"/>
          </a:xfrm>
          <a:prstGeom prst="line">
            <a:avLst/>
          </a:prstGeom>
          <a:noFill/>
          <a:ln w="19050">
            <a:solidFill>
              <a:srgbClr val="2867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92024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993392"/>
            <a:ext cx="20025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Synthetic LR-MS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4.8 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913632"/>
            <a:ext cx="181965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Original PAN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0.3 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4224528"/>
            <a:ext cx="868680" cy="0"/>
          </a:xfrm>
          <a:prstGeom prst="line">
            <a:avLst/>
          </a:prstGeom>
          <a:noFill/>
          <a:ln w="19050">
            <a:solidFill>
              <a:srgbClr val="7058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77640" y="384048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913632"/>
            <a:ext cx="20025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Reduced PAN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≈ 1.2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331720"/>
            <a:ext cx="1097280" cy="64008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4251960"/>
            <a:ext cx="1097280" cy="-54864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43800" y="292608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2999232"/>
            <a:ext cx="15910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Training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64040" y="3364992"/>
            <a:ext cx="73152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78440" y="292608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E9932D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51592" y="2999232"/>
            <a:ext cx="10424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Target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WALD DATASET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Generated Sample Dimensions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Each patch teaches the model a four-times enhancement task.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5669280" cy="3429000"/>
          </a:xfrm>
          <a:prstGeom prst="roundRect">
            <a:avLst>
              <a:gd name="adj" fmla="val 2133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011680"/>
            <a:ext cx="534009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223260"/>
            <a:ext cx="5157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Wald sample showing LR-MS, PAN, and target]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19568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6 × 64 × 64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031736" y="239572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LR-MS Input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31736" y="2688336"/>
            <a:ext cx="33101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4.8 m/pixel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28346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1736" y="296265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1 × 256 × 256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31736" y="340156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PAN Input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31736" y="3694176"/>
            <a:ext cx="33101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1.2 m/pixel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03720" y="38404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396849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6 × 256 × 256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031736" y="440740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MS Target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31736" y="4700016"/>
            <a:ext cx="33101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1.2 m/pixel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48463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49743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×4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031736" y="541324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Learning 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31736" y="5705856"/>
            <a:ext cx="33101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64×64 → 256×256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WALD DATASET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Train / Validation / Test Split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dataset was divided spatially for more reliable model assessment.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231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4241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416" y="2916936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Learn model parameters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0574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22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74573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5736" y="2916936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Checkpoint selection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20574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22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44905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49056" y="2916936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Final comparison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A2351"/>
                </a:solidFill>
              </a:rPr>
              <a:t>The split was spatial rather than random to reduce leakage between neighboring satellite patches.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WALD DATASET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Preventing Spatial Leakage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Nearby satellite patches can share nearly identical structures.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82880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82880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182880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2880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82880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33172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33172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33172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33172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331720"/>
            <a:ext cx="530352" cy="438912"/>
          </a:xfrm>
          <a:prstGeom prst="rect">
            <a:avLst/>
          </a:prstGeom>
          <a:solidFill>
            <a:srgbClr val="22A06B"/>
          </a:solidFill>
          <a:ln w="7620">
            <a:solidFill>
              <a:srgbClr val="22A0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233172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3464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283464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283464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283464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83464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283464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33756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8760" y="333756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333756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333756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337560"/>
            <a:ext cx="530352" cy="438912"/>
          </a:xfrm>
          <a:prstGeom prst="rect">
            <a:avLst/>
          </a:prstGeom>
          <a:solidFill>
            <a:srgbClr val="EAF4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86200" y="3337560"/>
            <a:ext cx="530352" cy="438912"/>
          </a:xfrm>
          <a:prstGeom prst="rect">
            <a:avLst/>
          </a:prstGeom>
          <a:solidFill>
            <a:srgbClr val="F7FBFF"/>
          </a:solidFill>
          <a:ln w="5080">
            <a:solidFill>
              <a:srgbClr val="B6C7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1828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D64B4B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32704" y="1993392"/>
            <a:ext cx="54864" cy="905256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7296" y="1984248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Risk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797296" y="2395728"/>
            <a:ext cx="47731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Random splitting can overestimate performance when test patches are too close to training patches.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486400" y="3657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32704" y="3822192"/>
            <a:ext cx="54864" cy="90525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97296" y="3813048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Solution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797296" y="4224528"/>
            <a:ext cx="47731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Spatial splitting gives a more credible estimate of performance on unseen regions.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Baseline Models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Building reliable reference points before evaluating the HAT architecture.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18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Baseline 1 — Bicubic Interpolation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non-learning minimum reference method.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6233A"/>
                </a:solidFill>
              </a:rPr>
              <a:t>Resizes LR-MS from 64×64 to 256×256.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Does not use the PAN image.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Produces smooth output but cannot recover real high-frequency structures.</a:t>
            </a:r>
            <a:endParaRPr lang="en-US" sz="1800" dirty="0"/>
          </a:p>
          <a:p>
            <a:r>
              <a:rPr lang="en-US" sz="1800" dirty="0">
                <a:solidFill>
                  <a:srgbClr val="16233A"/>
                </a:solidFill>
              </a:rPr>
              <a:t>Used as the basic reference for all learned models.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4754880" cy="3337560"/>
          </a:xfrm>
          <a:prstGeom prst="roundRect">
            <a:avLst>
              <a:gd name="adj" fmla="val 2192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2057400"/>
            <a:ext cx="442569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3223260"/>
            <a:ext cx="42428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Bicubic output example]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Bicubic Test Results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Interpolation alone was insufficient for high-quality reconstruction.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18.6868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953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PSNR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dB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0.5980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9981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981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structure similarity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2.6411°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34009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spectral angle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4.7982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58037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ERGAS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037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radiometric error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0.08254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82065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065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absolute error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A2351"/>
                </a:solidFill>
              </a:rPr>
              <a:t>This baseline established the low end of expected reconstruction quality.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Baseline 2 — Fusion CNN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 learnable residual model using both MS and PAN information.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1691640" cy="685800"/>
          </a:xfrm>
          <a:prstGeom prst="roundRect">
            <a:avLst>
              <a:gd name="adj" fmla="val 9333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313432"/>
            <a:ext cx="154533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LR-MS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578608"/>
            <a:ext cx="59436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224028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313432"/>
            <a:ext cx="1682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Bicubic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794760"/>
            <a:ext cx="1691640" cy="685800"/>
          </a:xfrm>
          <a:prstGeom prst="roundRect">
            <a:avLst>
              <a:gd name="adj" fmla="val 9333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867912"/>
            <a:ext cx="154533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PAN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4133088"/>
            <a:ext cx="594360" cy="-932688"/>
          </a:xfrm>
          <a:prstGeom prst="line">
            <a:avLst/>
          </a:prstGeom>
          <a:noFill/>
          <a:ln w="19050">
            <a:solidFill>
              <a:srgbClr val="7058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2578608"/>
            <a:ext cx="685800" cy="484632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28346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2907792"/>
            <a:ext cx="18196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7-channel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input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66760" y="3264408"/>
            <a:ext cx="64008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9720" y="283464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872" y="2907792"/>
            <a:ext cx="18196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CNN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Residual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A2351"/>
                </a:solidFill>
              </a:rPr>
              <a:t>The CNN learns the difference between Bicubic MS and the target MS.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Fusion CNN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 simple but strong PAN-guided baseline.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13969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7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96696" y="257860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Input Channels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" y="287121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6 MS + 1 PAN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0116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213969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48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739896" y="257860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Feature Channels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9896" y="287121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convolutional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20116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213969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6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483096" y="257860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Residual Blocks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83096" y="287121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local feature learning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20116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26296" y="213969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6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226296" y="257860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Output Bands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26296" y="287121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HR-MS residual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The predicted residual is added to the Bicubic MS image to generate the final output.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Fusion CNN Test Results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Learned PAN-guided fusion produced a large improvement over Bicubic.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25.0762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953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PSNR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dB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0.9186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9981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981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structure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1.9012°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34009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spectral angle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2.2635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58037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ERGAS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037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radiometry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13969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0.03531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820656" y="257860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0656" y="287121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absolute error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A2351"/>
                </a:solidFill>
              </a:rPr>
              <a:t>The PSNR gain over Bicubic was approximately +6.39 dB.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BASELINES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Baseline Visual Comparison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learned CNN recovered substantially more structure than interpolation.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6400800" cy="3794760"/>
          </a:xfrm>
          <a:prstGeom prst="roundRect">
            <a:avLst>
              <a:gd name="adj" fmla="val 1928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011680"/>
            <a:ext cx="607161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406140"/>
            <a:ext cx="5888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Bicubic vs Fusion CNN vs Ground Truth]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43800" y="2057400"/>
            <a:ext cx="1249680" cy="47244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0376" y="209397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Method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93480" y="2057400"/>
            <a:ext cx="1249680" cy="47244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30056" y="209397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PSNR 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43160" y="2057400"/>
            <a:ext cx="1249680" cy="47244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79736" y="209397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BFF"/>
                </a:solidFill>
              </a:rPr>
              <a:t>SAM 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529840"/>
            <a:ext cx="1249680" cy="47244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256641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Bicubic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93480" y="2529840"/>
            <a:ext cx="1249680" cy="47244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30056" y="256641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18.6868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43160" y="2529840"/>
            <a:ext cx="1249680" cy="47244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9736" y="256641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2.6411°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3002280"/>
            <a:ext cx="124968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0376" y="303885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Fusion CNN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93480" y="3002280"/>
            <a:ext cx="124968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30056" y="303885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25.0762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43160" y="3002280"/>
            <a:ext cx="1249680" cy="47244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9736" y="3038856"/>
            <a:ext cx="1176528" cy="399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</a:rPr>
              <a:t>1.9012°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43800" y="411480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1816" y="424281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+6.39 dB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671816" y="4681728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CNN PSNR Gain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71816" y="497433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over Bicubic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HAT-PAN Fusion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Adapting Hybrid Attention Transformer for multispectral pansharpening.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25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HAT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Hybrid Attention Transformer?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Satellite images contain both local details and long-range spatial structures.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039112"/>
            <a:ext cx="54864" cy="99669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0299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Local Detail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441448"/>
            <a:ext cx="27614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Building corners, roof boundaries, road edges, and small objects.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2628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039112"/>
            <a:ext cx="54864" cy="99669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20299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Long-Range Patterns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37176" y="2441448"/>
            <a:ext cx="27614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Repeated rooftops, road networks, and similar objects across the scene.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2039112"/>
            <a:ext cx="54864" cy="9966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6216" y="20299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HAT Advantage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86216" y="2441448"/>
            <a:ext cx="27614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Hybrid attention captures broader dependencies than a basic CNN.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A2351"/>
                </a:solidFill>
              </a:rPr>
              <a:t>HAT combines window attention, channel attention, overlapping attention, and convolutional feature extraction.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HAT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Proposed HAT-Based Pansharpening Network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model uses MS spectral input and PAN spatial guidance.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450592"/>
            <a:ext cx="163677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LR-MS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6 bands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023360"/>
            <a:ext cx="1783080" cy="777240"/>
          </a:xfrm>
          <a:prstGeom prst="roundRect">
            <a:avLst>
              <a:gd name="adj" fmla="val 8235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096512"/>
            <a:ext cx="163677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PAN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downsampled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2743200"/>
            <a:ext cx="914400" cy="320040"/>
          </a:xfrm>
          <a:prstGeom prst="line">
            <a:avLst/>
          </a:prstGeom>
          <a:noFill/>
          <a:ln w="19050">
            <a:solidFill>
              <a:srgbClr val="2867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4389120"/>
            <a:ext cx="914400" cy="-731520"/>
          </a:xfrm>
          <a:prstGeom prst="line">
            <a:avLst/>
          </a:prstGeom>
          <a:noFill/>
          <a:ln w="19050">
            <a:solidFill>
              <a:srgbClr val="7058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86200" y="306324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3136392"/>
            <a:ext cx="168249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7-channel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input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3493008"/>
            <a:ext cx="64008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20840" y="2971800"/>
            <a:ext cx="2011680" cy="1051560"/>
          </a:xfrm>
          <a:prstGeom prst="roundRect">
            <a:avLst>
              <a:gd name="adj" fmla="val 6087"/>
            </a:avLst>
          </a:prstGeom>
          <a:solidFill>
            <a:srgbClr val="EAF4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044952"/>
            <a:ext cx="1865376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HAT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×4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15400" y="3493008"/>
            <a:ext cx="64008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38360" y="3063240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1512" y="3136392"/>
            <a:ext cx="14996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6-band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residual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HAT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Residual Reconstruction Strategy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model predicts missing high-frequency information, not the whole image from zero.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84832"/>
            <a:ext cx="223113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LR-MS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Bicubic ×4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005072"/>
            <a:ext cx="223113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HAT 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6-band residual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2450592"/>
            <a:ext cx="1188720" cy="566928"/>
          </a:xfrm>
          <a:prstGeom prst="line">
            <a:avLst/>
          </a:prstGeom>
          <a:noFill/>
          <a:ln w="19050">
            <a:solidFill>
              <a:srgbClr val="2867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4370832"/>
            <a:ext cx="1188720" cy="-667512"/>
          </a:xfrm>
          <a:prstGeom prst="line">
            <a:avLst/>
          </a:prstGeom>
          <a:noFill/>
          <a:ln w="19050">
            <a:solidFill>
              <a:srgbClr val="7058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306324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3136392"/>
            <a:ext cx="177393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Addition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3493008"/>
            <a:ext cx="86868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30632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136392"/>
            <a:ext cx="25054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Coarse HR-MS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This focuses the transformer on edges, textures, and fine spatial details.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HAT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29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PAN-Guided Residual Refinement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 CNN refinement stage improves the final HAT reconstruction.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993392"/>
            <a:ext cx="54864" cy="67665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984248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351"/>
                </a:solidFill>
              </a:rPr>
              <a:t>Refinement Input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15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</a:rPr>
              <a:t>Coarse HR-MS 6 + Bicubic MS 6 + PAN 1 = 13 channels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93392"/>
            <a:ext cx="54864" cy="67665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84248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351"/>
                </a:solidFill>
              </a:rPr>
              <a:t>Refinement Network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15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</a:rPr>
              <a:t>64 feature channels and 4 residual refinement blocks.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67665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351"/>
                </a:solidFill>
              </a:rPr>
              <a:t>Final Output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15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</a:rPr>
              <a:t>Final HR-MS = Coarse HR-MS + Refinement Residual.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43000" y="3657600"/>
            <a:ext cx="9875520" cy="1508760"/>
          </a:xfrm>
          <a:prstGeom prst="roundRect">
            <a:avLst>
              <a:gd name="adj" fmla="val 4848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07592" y="3840480"/>
            <a:ext cx="954633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4091940"/>
            <a:ext cx="93634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HAT architecture or refinement diagram if available]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HAT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Main HAT Configuration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architecture was configured specifically for ×4 six-band pansharpening.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81965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×4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3816" y="22585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255117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169164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81965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7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517136" y="22585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Input channels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7136" y="255117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181965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6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220456" y="22585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Output bands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0456" y="255117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92608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0540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180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13816" y="349300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Embedding dim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" y="378561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292608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7136" y="30540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6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4517136" y="349300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Attention groups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17136" y="378561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292608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0456" y="305409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6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8220456" y="349300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Blocks/group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0456" y="378561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416052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428853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6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813816" y="472744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Heads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3816" y="502005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0" y="416052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17136" y="428853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16×16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4517136" y="472744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Window size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17136" y="502005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2440" y="416052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0456" y="428853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PixelShuffle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8220456" y="472744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Upsampling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0456" y="5020056"/>
            <a:ext cx="262432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HAT-PAN setting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Transfer Learning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Using WorldView-3 pretraining to overcome the small local dataset.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31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Transfer Learning Motivation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local dataset was too small for training a large transformer from scratch.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231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5097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Local Training Patches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291693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limited target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86200" y="2651760"/>
            <a:ext cx="6858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205740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WV3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92861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Large Source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291693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remote-sensing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2651760"/>
            <a:ext cx="6858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78240" y="205740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6256" y="218541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Transfer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906256" y="262432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Better Start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06256" y="291693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less overfitting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4800600"/>
            <a:ext cx="9875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Pretraining gives the model reusable knowledge about buildings, roads, textures, and PAN–MS relationships.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WorldView-3 Pretraining Stage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source task used a larger 8-band pansharpening setup.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993392"/>
            <a:ext cx="54864" cy="8138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Source Input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8 MS bands + 1 PAN band = 9 input channels.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93392"/>
            <a:ext cx="54864" cy="81381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Source 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8 high-resolution multispectral bands.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8138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Best WV3 Result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PSNR 32.568 dB • SAM 4.944°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4251960"/>
            <a:ext cx="9784080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9304" y="4416552"/>
            <a:ext cx="54864" cy="49377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53896" y="4407408"/>
            <a:ext cx="9345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351"/>
                </a:solidFill>
              </a:rPr>
              <a:t>Scientific note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53896" y="4818888"/>
            <a:ext cx="9345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</a:rPr>
              <a:t>These WV3 values are not directly compared with local dataset results because sensors, bands, and protocols differ.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Transfer from 8 Bands to 6 Bands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Only band-dependent layers needed adaptation.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286000"/>
            <a:ext cx="2286000" cy="1097280"/>
          </a:xfrm>
          <a:prstGeom prst="roundRect">
            <a:avLst>
              <a:gd name="adj" fmla="val 5833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359152"/>
            <a:ext cx="2139696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Source WV3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9 input channels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8 output bands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2834640"/>
            <a:ext cx="11430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2240280"/>
            <a:ext cx="2606040" cy="1188720"/>
          </a:xfrm>
          <a:prstGeom prst="roundRect">
            <a:avLst>
              <a:gd name="adj" fmla="val 5385"/>
            </a:avLst>
          </a:prstGeom>
          <a:solidFill>
            <a:srgbClr val="EAF4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313432"/>
            <a:ext cx="2459736" cy="1042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Architecture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Adaptation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80960" y="2834640"/>
            <a:ext cx="11430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2286000"/>
            <a:ext cx="2286000" cy="1097280"/>
          </a:xfrm>
          <a:prstGeom prst="roundRect">
            <a:avLst>
              <a:gd name="adj" fmla="val 5833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2359152"/>
            <a:ext cx="2139696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Local Target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7 input channels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6 output bands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70001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876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042416" y="51389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Compatible tensors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" y="543153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transferred directly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45720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470001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17 → 13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3785616" y="51389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Refinement input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85616" y="543153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channel adaptation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45720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470001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8 → 6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6528816" y="51389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Output bands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28816" y="5431536"/>
            <a:ext cx="212140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local sensor setup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Fine-Tuning Strategy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Adapt the transferred model gradually instead of updating everything immediately.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2176272"/>
            <a:ext cx="54864" cy="99669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2167128"/>
            <a:ext cx="4270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Stage A — Adaptation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79576" y="2578608"/>
            <a:ext cx="427024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Train modified input, output, and refinement layers first to adapt to local six-band data.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176272"/>
            <a:ext cx="54864" cy="9966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167128"/>
            <a:ext cx="4270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Stage B — Full Fine-Tuning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11696" y="2578608"/>
            <a:ext cx="427024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Unfreeze the complete HAT network and optimize all layers jointly on the local dataset.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This staged process reduced instability and helped the pretrained features adjust to the target imagery.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WV3-Transfer HAT Performance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transferred HAT became the strongest individual reconstruction model.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0939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25.3574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9536" y="2532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PSNR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8254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best individual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19659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20939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0.9210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99816" y="2532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9816" y="28254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high structure quality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19659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0939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1.9107°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340096" y="2532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28254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spectral angle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19659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20939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2.1864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580376" y="2532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ERGAS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0376" y="28254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best radiometry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196596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0939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0.03421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820656" y="2532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0656" y="282549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lowest error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A2351"/>
                </a:solidFill>
              </a:rPr>
              <a:t>Best overall individual model for PSNR, ERGAS, and L1.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TRANSFER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HAT vs Fusion CNN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two models showed complementary strengths.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5270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927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PSNR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816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473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SSIM 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362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019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SAM 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7908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565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ERGAS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4540" y="2011680"/>
            <a:ext cx="1775460" cy="50292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1116" y="204825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L1 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Fusion CNN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5270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927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25.0762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473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0.9186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362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019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1.9012°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7908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1565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2.2635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54540" y="2514600"/>
            <a:ext cx="1775460" cy="50292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1116" y="255117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0.03531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WV3-Transfer HAT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5270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927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25.3574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2816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6473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0.9210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0362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019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1.9107°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87908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1565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2.1864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54540" y="3017520"/>
            <a:ext cx="177546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1116" y="3054096"/>
            <a:ext cx="17023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0.03421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51560" y="43434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97864" y="4507992"/>
            <a:ext cx="54864" cy="5852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62456" y="449884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HAT Strength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62456" y="4910328"/>
            <a:ext cx="41330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Stronger overall reconstruction, lower ERGAS, and lower L1.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537960" y="43434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84264" y="4507992"/>
            <a:ext cx="54864" cy="5852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8856" y="449884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CNN Strength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848856" y="4910328"/>
            <a:ext cx="41330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Slightly better SAM, suggesting useful spectral complementarity.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Adaptive Fusion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Combining HAT and CNN predictions without data leakage.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38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39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Adaptive Fusion?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Different models can be reliable in different regions and spectral bands.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130552"/>
            <a:ext cx="54864" cy="90525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12140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HAT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53288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Strong spatial reconstruction and overall error reduction.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1965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130552"/>
            <a:ext cx="54864" cy="90525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12140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CNN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91456" y="253288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Useful spectral behavior and local texture modeling.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1965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2130552"/>
            <a:ext cx="54864" cy="90525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212140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Adaptive Gate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4776" y="253288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Learns how much to trust each model per pixel and band.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A2351"/>
                </a:solidFill>
              </a:rPr>
              <a:t>Final = Weight_HAT × HAT + Weight_CNN × CNN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Spatial Out-of-Fold Cross-Fitting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gate was trained on held-out expert predictions to avoid leakage.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993392"/>
            <a:ext cx="54864" cy="8138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Fold 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Safe Train 121 • Holdout 77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93392"/>
            <a:ext cx="54864" cy="81381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Fold 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Safe Train 88 • Holdout 77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8138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Fold 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Safe Train 121 • Holdout 77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14800" y="43891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451713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231 / 231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4242816" y="4956048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OOF Coverage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42816" y="5248656"/>
            <a:ext cx="3675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all train patches predicted once as holdout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Adaptive Gate Inputs and Outputs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gate produces expert weights for every band and location.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600200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673352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HAT: 6 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865376"/>
            <a:ext cx="1143000" cy="1380744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2350008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423160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CNN: 6 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615184"/>
            <a:ext cx="1143000" cy="630936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3099816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72968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Bicubic: 6 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364992"/>
            <a:ext cx="1143000" cy="-118872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" y="3849624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922776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PAN: 1 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4114800"/>
            <a:ext cx="1143000" cy="-86868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" y="4599432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672584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|HAT−CNN|: 6 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4864608"/>
            <a:ext cx="1143000" cy="-1618488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89120" y="2743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EAF4FF"/>
          </a:solidFill>
          <a:ln w="13970">
            <a:solidFill>
              <a:srgbClr val="E9932D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2816352"/>
            <a:ext cx="195681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25-channel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Gate Input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75120" y="3246120"/>
            <a:ext cx="9144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274320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EAF4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1272" y="2816352"/>
            <a:ext cx="16824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Adaptive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2351"/>
                </a:solidFill>
              </a:rPr>
              <a:t>Gate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829800" y="3246120"/>
            <a:ext cx="59436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07040" y="2743200"/>
            <a:ext cx="1188720" cy="1005840"/>
          </a:xfrm>
          <a:prstGeom prst="roundRect">
            <a:avLst>
              <a:gd name="adj" fmla="val 6364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80192" y="2816352"/>
            <a:ext cx="104241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12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Weight Maps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A2351"/>
                </a:solidFill>
              </a:rPr>
              <a:t>Output = 2 experts × 6 spectral bands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OOF Adaptive Gate Results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fusion gate achieved the best spectral–structural balance.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568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25.3204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9536" y="23957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PSNR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688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close to HAT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19568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0.92119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99816" y="23957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9816" y="2688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best 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19568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1.88268°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340096" y="23957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2688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best value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19568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2.1986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580376" y="23957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ERGAS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0376" y="2688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strong quality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18288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19568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0.03425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820656" y="23957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0656" y="2688336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near HAT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58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0432" y="4343400"/>
            <a:ext cx="433425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4457700"/>
            <a:ext cx="4151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HAT weight map]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0F7FF"/>
          </a:solidFill>
          <a:ln w="17780">
            <a:solidFill>
              <a:srgbClr val="7058E8">
                <a:alpha val="8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832" y="4343400"/>
            <a:ext cx="4334256" cy="27432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457700"/>
            <a:ext cx="415137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CNN weight map]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Ablation Study Overview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Fusion and refinement variants were tested under the same spatial test protocol.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5326380" cy="576072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865376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Experiment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3620" y="1828800"/>
            <a:ext cx="5326380" cy="576072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0196" y="1865376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Main Effect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404872"/>
            <a:ext cx="5326380" cy="576072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441448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Simple Average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3620" y="2404872"/>
            <a:ext cx="5326380" cy="576072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0196" y="2441448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Improved SAM but reduced HAT reconstruction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5326380" cy="576072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017520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OOF Adaptive Gate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03620" y="2980944"/>
            <a:ext cx="5326380" cy="576072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0196" y="3017520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Best SSIM and SAM with strong PSNR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57016"/>
            <a:ext cx="5326380" cy="576072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593592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Correlation-Aware Gate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3620" y="3557016"/>
            <a:ext cx="5326380" cy="576072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0196" y="3593592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More features but no better than OOF Gate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133088"/>
            <a:ext cx="5326380" cy="576072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4169664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S3 Refiner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3620" y="4133088"/>
            <a:ext cx="5326380" cy="576072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0196" y="4169664"/>
            <a:ext cx="525322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Improved SAM but degraded PSNR, ERGAS, and L1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A2351"/>
                </a:solidFill>
              </a:rPr>
              <a:t>A more complex model was kept only if it improved balanced performance.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Rejected or Non-Final Experiments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Final selection was based on balanced quantitative evidence.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19659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2130552"/>
            <a:ext cx="54864" cy="10424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2121408"/>
            <a:ext cx="4270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Correlation-Aware Gate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79576" y="2532888"/>
            <a:ext cx="42702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Added PAN correlation, local standard deviation, and high-frequency features, but did not improve the OOF gate.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3970">
            <a:solidFill>
              <a:srgbClr val="D64B4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130552"/>
            <a:ext cx="54864" cy="1042416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121408"/>
            <a:ext cx="4270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S3 Residual Refiner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11696" y="2532888"/>
            <a:ext cx="42702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Lowered SAM slightly, but weakened PSNR, ERGAS, and L1. It was not selected as final.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Key lesson: additional architecture complexity does not automatically improve the final model.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Evaluation and Results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Quantitative model comparison under the same Wald test protocol.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45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A good remote-sensing SR model must be sharp, structurally consistent, and spectrally reliable.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214884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100" b="1">
                <a:solidFill>
                  <a:srgbClr val="2A70FF"/>
                </a:solidFill>
                <a:latin typeface="Aptos"/>
              </a:rPr>
              <a:t>PSNR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514600"/>
            <a:ext cx="1929384" cy="24688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50" b="1">
                <a:solidFill>
                  <a:srgbClr val="112F61"/>
                </a:solidFill>
                <a:latin typeface="Aptos"/>
              </a:rPr>
              <a:t>Pixel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862072"/>
            <a:ext cx="192938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00" b="0">
                <a:solidFill>
                  <a:srgbClr val="5D7391"/>
                </a:solidFill>
                <a:latin typeface="Aptos"/>
              </a:rPr>
              <a:t>higher is better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74519"/>
            <a:ext cx="214884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057400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100" b="1">
                <a:solidFill>
                  <a:srgbClr val="7D5CFF"/>
                </a:solidFill>
                <a:latin typeface="Aptos"/>
              </a:rPr>
              <a:t>SSIM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514600"/>
            <a:ext cx="1929384" cy="24688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50" b="1">
                <a:solidFill>
                  <a:srgbClr val="112F61"/>
                </a:solidFill>
                <a:latin typeface="Aptos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862072"/>
            <a:ext cx="192938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00" b="0">
                <a:solidFill>
                  <a:srgbClr val="5D7391"/>
                </a:solidFill>
                <a:latin typeface="Aptos"/>
              </a:rPr>
              <a:t>higher is better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874519"/>
            <a:ext cx="214884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2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057400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100" b="1">
                <a:solidFill>
                  <a:srgbClr val="22A869"/>
                </a:solidFill>
                <a:latin typeface="Aptos"/>
              </a:rPr>
              <a:t>SAM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514600"/>
            <a:ext cx="1929384" cy="24688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50" b="1">
                <a:solidFill>
                  <a:srgbClr val="112F61"/>
                </a:solidFill>
                <a:latin typeface="Aptos"/>
              </a:rPr>
              <a:t>Spectral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862072"/>
            <a:ext cx="192938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00" b="0">
                <a:solidFill>
                  <a:srgbClr val="5D7391"/>
                </a:solidFill>
                <a:latin typeface="Aptos"/>
              </a:rPr>
              <a:t>lower is better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874519"/>
            <a:ext cx="214884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057400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100" b="1">
                <a:solidFill>
                  <a:srgbClr val="F58B2A"/>
                </a:solidFill>
                <a:latin typeface="Aptos"/>
              </a:rPr>
              <a:t>ERGAS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2514600"/>
            <a:ext cx="1929384" cy="24688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50" b="1">
                <a:solidFill>
                  <a:srgbClr val="112F61"/>
                </a:solidFill>
                <a:latin typeface="Aptos"/>
              </a:rPr>
              <a:t>Radiometry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862072"/>
            <a:ext cx="192938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00" b="0">
                <a:solidFill>
                  <a:srgbClr val="5D7391"/>
                </a:solidFill>
                <a:latin typeface="Aptos"/>
              </a:rPr>
              <a:t>lower is better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1874519"/>
            <a:ext cx="214884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057400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100" b="1">
                <a:solidFill>
                  <a:srgbClr val="2A70FF"/>
                </a:solidFill>
                <a:latin typeface="Aptos"/>
              </a:rPr>
              <a:t>L1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514600"/>
            <a:ext cx="1929384" cy="24688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50" b="1">
                <a:solidFill>
                  <a:srgbClr val="112F61"/>
                </a:solidFill>
                <a:latin typeface="Aptos"/>
              </a:rPr>
              <a:t>Absolute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862072"/>
            <a:ext cx="1929384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200" b="0">
                <a:solidFill>
                  <a:srgbClr val="5D7391"/>
                </a:solidFill>
                <a:latin typeface="Aptos"/>
              </a:rPr>
              <a:t>lower is better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09160"/>
            <a:ext cx="10744200" cy="6858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809744"/>
            <a:ext cx="10488168" cy="5212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1">
                <a:solidFill>
                  <a:srgbClr val="112F61"/>
                </a:solidFill>
                <a:latin typeface="Aptos"/>
              </a:rPr>
              <a:t>Use all metrics together: PSNR and SSIM assess reconstruction quality, while SAM and ERGAS protect spectral/radiometric integrity.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PSNR ↑ — Peak Signal-to-Noise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Measures pixel-level reconstruction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1682496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3400" b="1">
                <a:solidFill>
                  <a:srgbClr val="2A70FF"/>
                </a:solidFill>
                <a:latin typeface="Aptos"/>
              </a:rPr>
              <a:t>PSNR
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800" b="1">
                <a:solidFill>
                  <a:srgbClr val="2A70FF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379476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Compares predicted pixels with the reference image.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Sensitive to overall reconstruction error.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Useful for measuring distortion reduction.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572768"/>
            <a:ext cx="4343400" cy="105156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3886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Preferred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39112"/>
            <a:ext cx="3886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A70FF"/>
                </a:solidFill>
                <a:latin typeface="Aptos"/>
              </a:rPr>
              <a:t>Higher is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816352"/>
            <a:ext cx="434340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971800"/>
            <a:ext cx="3931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Why it matters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38862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0">
                <a:solidFill>
                  <a:srgbClr val="112F61"/>
                </a:solidFill>
                <a:latin typeface="Aptos"/>
              </a:rPr>
              <a:t>Used to identify the model with the strongest numerical reconstruction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5029200" cy="86868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297680"/>
            <a:ext cx="4700016" cy="59435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A70FF"/>
                </a:solidFill>
                <a:latin typeface="Aptos"/>
              </a:rPr>
              <a:t>PSNR = 10 log₁₀(MAX² / MSE)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4846320" cy="8686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250" b="1">
                <a:solidFill>
                  <a:srgbClr val="5D7391"/>
                </a:solidFill>
                <a:latin typeface="Aptos"/>
              </a:rPr>
              <a:t>In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35204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500" b="1">
                <a:solidFill>
                  <a:srgbClr val="112F61"/>
                </a:solidFill>
                <a:latin typeface="Aptos"/>
              </a:rPr>
              <a:t>Measures pixel-level reconstruction accuracy.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SSIM ↑ — Structural Similarity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Measures how similar the image structure is to the 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1682496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3400" b="1">
                <a:solidFill>
                  <a:srgbClr val="7D5CFF"/>
                </a:solidFill>
                <a:latin typeface="Aptos"/>
              </a:rPr>
              <a:t>SSIM
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800" b="1">
                <a:solidFill>
                  <a:srgbClr val="7D5CFF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379476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Evaluates local structure, contrast, and luminance.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Better reflects perceived structural similarity than PSNR alone.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Ranges close to 0–1 in practical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572768"/>
            <a:ext cx="4343400" cy="105156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7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3886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Preferred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39112"/>
            <a:ext cx="3886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7D5CFF"/>
                </a:solidFill>
                <a:latin typeface="Aptos"/>
              </a:rPr>
              <a:t>Higher is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816352"/>
            <a:ext cx="434340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971800"/>
            <a:ext cx="3931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Why it matters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38862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0">
                <a:solidFill>
                  <a:srgbClr val="112F61"/>
                </a:solidFill>
                <a:latin typeface="Aptos"/>
              </a:rPr>
              <a:t>Used to check whether buildings, roads, and textures remain structurally consistent.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5029200" cy="86868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7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297680"/>
            <a:ext cx="4700016" cy="59435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7D5CFF"/>
                </a:solidFill>
                <a:latin typeface="Aptos"/>
              </a:rPr>
              <a:t>SSIM ≈ structure + contrast + luminance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4846320" cy="8686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7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250" b="1">
                <a:solidFill>
                  <a:srgbClr val="5D7391"/>
                </a:solidFill>
                <a:latin typeface="Aptos"/>
              </a:rPr>
              <a:t>In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35204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500" b="1">
                <a:solidFill>
                  <a:srgbClr val="112F61"/>
                </a:solidFill>
                <a:latin typeface="Aptos"/>
              </a:rPr>
              <a:t>Measures how similar the image structure is to the reference.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SAM ↓ — Spectral Angle Mapper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Measures spectral-shape preservation across bands.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2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1682496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3400" b="1">
                <a:solidFill>
                  <a:srgbClr val="22A869"/>
                </a:solidFill>
                <a:latin typeface="Aptos"/>
              </a:rPr>
              <a:t>SAM
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800" b="1">
                <a:solidFill>
                  <a:srgbClr val="22A869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379476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Computes the angle between predicted and reference spectral vectors.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Less affected by brightness scale than simple pixel error.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Critical for multispectral remote sensing.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572768"/>
            <a:ext cx="4343400" cy="105156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2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3886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Preferred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39112"/>
            <a:ext cx="3886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2A869"/>
                </a:solidFill>
                <a:latin typeface="Aptos"/>
              </a:rPr>
              <a:t>Lower is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816352"/>
            <a:ext cx="434340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971800"/>
            <a:ext cx="3931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Why it matters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38862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0">
                <a:solidFill>
                  <a:srgbClr val="112F61"/>
                </a:solidFill>
                <a:latin typeface="Aptos"/>
              </a:rPr>
              <a:t>Used to verify that the six spectral bands remain reliable after sharpening.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5029200" cy="86868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2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297680"/>
            <a:ext cx="4700016" cy="59435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2A869"/>
                </a:solidFill>
                <a:latin typeface="Aptos"/>
              </a:rPr>
              <a:t>SAM = angle( predicted spectrum, reference spectrum 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4846320" cy="8686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2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250" b="1">
                <a:solidFill>
                  <a:srgbClr val="5D7391"/>
                </a:solidFill>
                <a:latin typeface="Aptos"/>
              </a:rPr>
              <a:t>In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35204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500" b="1">
                <a:solidFill>
                  <a:srgbClr val="112F61"/>
                </a:solidFill>
                <a:latin typeface="Aptos"/>
              </a:rPr>
              <a:t>Measures spectral-shape preservation across bands.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ERGAS ↓ — Relative Global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Measures global radiometric error across spectral bands.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1682496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3400" b="1">
                <a:solidFill>
                  <a:srgbClr val="F58B2A"/>
                </a:solidFill>
                <a:latin typeface="Aptos"/>
              </a:rPr>
              <a:t>ERGAS
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800" b="1">
                <a:solidFill>
                  <a:srgbClr val="F58B2A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379476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Combines band-wise relative RMSE.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Accounts for the super-resolution scale factor.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Useful for global pansharpening quality assessment.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572768"/>
            <a:ext cx="4343400" cy="105156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F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3886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Preferred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39112"/>
            <a:ext cx="3886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F58B2A"/>
                </a:solidFill>
                <a:latin typeface="Aptos"/>
              </a:rPr>
              <a:t>Lower is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816352"/>
            <a:ext cx="434340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971800"/>
            <a:ext cx="3931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Why it matters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38862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0">
                <a:solidFill>
                  <a:srgbClr val="112F61"/>
                </a:solidFill>
                <a:latin typeface="Aptos"/>
              </a:rPr>
              <a:t>Used to evaluate whether the output maintains radiometric consistency after PAN-guided sharpening.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5029200" cy="86868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F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297680"/>
            <a:ext cx="4700016" cy="59435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F58B2A"/>
                </a:solidFill>
                <a:latin typeface="Aptos"/>
              </a:rPr>
              <a:t>ERGAS ↓ = lower relative radiometric distortion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4846320" cy="8686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F5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250" b="1">
                <a:solidFill>
                  <a:srgbClr val="5D7391"/>
                </a:solidFill>
                <a:latin typeface="Aptos"/>
              </a:rPr>
              <a:t>In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35204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500" b="1">
                <a:solidFill>
                  <a:srgbClr val="112F61"/>
                </a:solidFill>
                <a:latin typeface="Aptos"/>
              </a:rPr>
              <a:t>Measures global radiometric error across spectral bands.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850" b="0">
                <a:solidFill>
                  <a:srgbClr val="5D7391"/>
                </a:solidFill>
                <a:latin typeface="Aptos"/>
              </a:rP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r"/>
            <a:r>
              <a:rPr sz="850" b="0">
                <a:solidFill>
                  <a:srgbClr val="5D7391"/>
                </a:solidFill>
                <a:latin typeface="Aptos"/>
              </a:rP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863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3100" b="1">
                <a:solidFill>
                  <a:srgbClr val="112F61"/>
                </a:solidFill>
                <a:latin typeface="Aptos"/>
              </a:rPr>
              <a:t>L1 ↓ — Mean Absolute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508760" cy="36576"/>
          </a:xfrm>
          <a:prstGeom prst="rect">
            <a:avLst/>
          </a:prstGeom>
          <a:solidFill>
            <a:srgbClr val="2A70FF"/>
          </a:solidFill>
          <a:ln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96012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300" b="0">
                <a:solidFill>
                  <a:srgbClr val="5D7391"/>
                </a:solidFill>
                <a:latin typeface="Aptos"/>
              </a:rPr>
              <a:t>Measures average absolute pixel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234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1682496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3400" b="1">
                <a:solidFill>
                  <a:srgbClr val="2A70FF"/>
                </a:solidFill>
                <a:latin typeface="Aptos"/>
              </a:rPr>
              <a:t>L1
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800" b="1">
                <a:solidFill>
                  <a:srgbClr val="2A70FF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379476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no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Directly measures absolute reconstruction error.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Less sensitive to large outliers than MSE.</a:t>
            </a:r>
          </a:p>
          <a:p>
            <a:pPr>
              <a:spcAft>
                <a:spcPts val="600"/>
              </a:spcAft>
              <a:defRPr sz="1700">
                <a:solidFill>
                  <a:srgbClr val="112F61"/>
                </a:solidFill>
                <a:latin typeface="Aptos"/>
              </a:defRPr>
            </a:pPr>
            <a:r>
              <a:t>Simple and stable during model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572768"/>
            <a:ext cx="4343400" cy="105156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3886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Preferred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39112"/>
            <a:ext cx="3886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A70FF"/>
                </a:solidFill>
                <a:latin typeface="Aptos"/>
              </a:rPr>
              <a:t>Lower is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816352"/>
            <a:ext cx="4343400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971800"/>
            <a:ext cx="3931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300" b="1">
                <a:solidFill>
                  <a:srgbClr val="5D7391"/>
                </a:solidFill>
                <a:latin typeface="Aptos"/>
              </a:rPr>
              <a:t>Why it matters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28416"/>
            <a:ext cx="38862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1600" b="0">
                <a:solidFill>
                  <a:srgbClr val="112F61"/>
                </a:solidFill>
                <a:latin typeface="Aptos"/>
              </a:rPr>
              <a:t>Used as a direct error measure between the predicted HR-MS and the reference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5029200" cy="868680"/>
          </a:xfrm>
          <a:prstGeom prst="roundRect">
            <a:avLst/>
          </a:prstGeom>
          <a:solidFill>
            <a:srgbClr val="F8FB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297680"/>
            <a:ext cx="4700016" cy="59435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ctr"/>
            <a:r>
              <a:rPr sz="2200" b="1">
                <a:solidFill>
                  <a:srgbClr val="2A70FF"/>
                </a:solidFill>
                <a:latin typeface="Aptos"/>
              </a:rPr>
              <a:t>L1 = mean(|prediction − target|)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4846320" cy="86868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2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250" b="1">
                <a:solidFill>
                  <a:srgbClr val="5D7391"/>
                </a:solidFill>
                <a:latin typeface="Aptos"/>
              </a:rPr>
              <a:t>In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35204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 algn="l"/>
            <a:r>
              <a:rPr sz="1500" b="1">
                <a:solidFill>
                  <a:srgbClr val="112F61"/>
                </a:solidFill>
                <a:latin typeface="Aptos"/>
              </a:rPr>
              <a:t>Measures average absolute pixel difference.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EVALUATION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Final Results — Core Methods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Main model comparison on the 22-patch spatial test set.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9936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593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PSNR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292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949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SSIM 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SAM 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4004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661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ERGAS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360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9017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L1 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Bicubic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9936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593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18.6868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292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949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0.5980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2.6411°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4004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661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4.7982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5360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9017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0.08254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Fusion CNN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9936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3593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25.0762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1292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949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0.9186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1.9012°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4004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661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2.2635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75360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017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0.03531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WV3-Transfer HAT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9936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3593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25.3574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1292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949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0.9210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1.9107°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4004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7661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2.1864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75360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9017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0.03421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0120" y="48920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6424" y="5056632"/>
            <a:ext cx="54864" cy="53949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71016" y="504748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Best individual model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71016" y="5458968"/>
            <a:ext cx="431596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WV3-Transfer HAT achieved the best PSNR, ERGAS, and L1.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46520" y="48920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92824" y="5056632"/>
            <a:ext cx="54864" cy="5394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57416" y="504748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Baseline leap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6757416" y="5458968"/>
            <a:ext cx="431596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Fusion CNN improved heavily over Bicubic, confirming the value of learned PAN-guided fusion.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EVALUATION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Final Results — Fusion Variants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Adaptive fusion improved spectral–structural balance.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9936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593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PSNR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292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949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SSIM 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SAM 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4004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661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ERGAS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3600" y="1965960"/>
            <a:ext cx="1813560" cy="525780"/>
          </a:xfrm>
          <a:prstGeom prst="rect">
            <a:avLst/>
          </a:prstGeom>
          <a:solidFill>
            <a:srgbClr val="0A2351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90176" y="200253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F"/>
                </a:solidFill>
              </a:rPr>
              <a:t>L1 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Simple Average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9936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593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25.2909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292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949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0.9210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1.8843°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4004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661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2.2066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53600" y="249174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90176" y="252831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0.03436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OOF Adaptive Gate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9936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3593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25.3204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1292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949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0.92119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1.88268°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4004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661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2.1986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753600" y="3017520"/>
            <a:ext cx="1813560" cy="525780"/>
          </a:xfrm>
          <a:prstGeom prst="rect">
            <a:avLst/>
          </a:prstGeom>
          <a:solidFill>
            <a:srgbClr val="F0F7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0176" y="305409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0.03425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Correlation Gate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9936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3593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25.3048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1292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949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0.92106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1.88307°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4004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7661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2.2028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753600" y="3543300"/>
            <a:ext cx="1813560" cy="525780"/>
          </a:xfrm>
          <a:prstGeom prst="rect">
            <a:avLst/>
          </a:prstGeom>
          <a:solidFill>
            <a:srgbClr val="F7FBFF"/>
          </a:solidFill>
          <a:ln w="6350">
            <a:solidFill>
              <a:srgbClr val="D9E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90176" y="3579876"/>
            <a:ext cx="1740408" cy="4526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</a:rPr>
              <a:t>0.03430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0120" y="48920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6424" y="5056632"/>
            <a:ext cx="54864" cy="5394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71016" y="504748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Best spectral balance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71016" y="5458968"/>
            <a:ext cx="431596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OOF Adaptive Gate achieved the best SSIM and SAM.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46520" y="48920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92824" y="5056632"/>
            <a:ext cx="54864" cy="53949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57416" y="504748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351"/>
                </a:solidFill>
              </a:rPr>
              <a:t>Final interpretation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6757416" y="5458968"/>
            <a:ext cx="431596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</a:rPr>
              <a:t>HAT is best for reconstruction; OOF Gate is best for spectral–structural balance.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EVALUATION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49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Main Quantitative Findings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final results show clear improvement over interpolation.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0025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+6.6706 dB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9536" y="244144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PSNR Gain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27340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HAT over Bicubic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1874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20025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2.6411° → 1.9107°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602736" y="244144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SAM Reduced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02736" y="27340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spectral angle improved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874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0025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4.7982 → 2.1864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345936" y="244144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ERGAS Reduced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27340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radiometry improved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0" y="18745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7FBFF"/>
          </a:solidFill>
          <a:ln w="15240">
            <a:solidFill>
              <a:srgbClr val="E9932D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20025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932D"/>
                </a:solidFill>
              </a:rPr>
              <a:t>0.08254 → 0.03421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089136" y="244144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L1 Reduced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89136" y="273405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absolute error reduced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Best reconstruction: WV3-Transfer HAT. Best spectral–structural balance: OOF Adaptive Gate.</a:t>
            </a:r>
            <a:endParaRPr 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Full-Resolution Output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Applying the best model to the complete original satellite scene.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50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FULL RESOLUTION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Full-Resolution Reconstruction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trained model was applied to the complete aligned scene.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5669280" cy="3520440"/>
          </a:xfrm>
          <a:prstGeom prst="roundRect">
            <a:avLst>
              <a:gd name="adj" fmla="val 2078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2011680"/>
            <a:ext cx="534009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268980"/>
            <a:ext cx="5157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Full-resolution HAT output]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18288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68896" y="19568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6 × 1536 × 1804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168896" y="239572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Input 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68896" y="2688336"/>
            <a:ext cx="331012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1.2 m/pixel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28803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8896" y="30083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1 × 6144 × 7216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168896" y="344728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Input PAN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68896" y="3739896"/>
            <a:ext cx="331012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0.3 m/pixel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39319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405993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6 × 6144 × 7216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168896" y="4498848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Output HR-MS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68896" y="4791456"/>
            <a:ext cx="3310128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≈ 0.3 m/pixel GeoTIFF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5212080"/>
            <a:ext cx="3886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3758E"/>
                </a:solidFill>
              </a:rPr>
              <a:t>Output file: WV3_Transfer_HAT_HRMS_6band_full.tif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FULL RESOLUTION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Tiled Full-Resolution Inference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full image was processed through overlapping tiles and weighted blending.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8288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8288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288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5146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5146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5146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5146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2004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2004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3200400"/>
            <a:ext cx="877824" cy="621792"/>
          </a:xfrm>
          <a:prstGeom prst="rect">
            <a:avLst/>
          </a:prstGeom>
          <a:solidFill>
            <a:srgbClr val="F7FB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877824" cy="621792"/>
          </a:xfrm>
          <a:prstGeom prst="rect">
            <a:avLst/>
          </a:prstGeom>
          <a:solidFill>
            <a:srgbClr val="EAF4FF"/>
          </a:solidFill>
          <a:ln w="6350">
            <a:solidFill>
              <a:srgbClr val="2867D9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8288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2704" y="1993392"/>
            <a:ext cx="54864" cy="5852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1984248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Why tiled inference?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797296" y="2395728"/>
            <a:ext cx="4727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The complete scene is too large for one standard GPU pass through a transformer.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0" y="306324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32704" y="3227832"/>
            <a:ext cx="54864" cy="58521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3218688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Why overlap?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797296" y="3630168"/>
            <a:ext cx="4727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Overlap and weighted blending reduce tile borders and seams.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0" y="429768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32704" y="4462272"/>
            <a:ext cx="54864" cy="5852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7296" y="4453128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Inspection result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797296" y="4864608"/>
            <a:ext cx="47274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No obvious white blocks, NaN regions, or severe tile seams were observed.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FULL RESOLUTION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Full-Resolution Visual Results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Insert project images manually in the prepared placeholders.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2743200" cy="3794760"/>
          </a:xfrm>
          <a:prstGeom prst="roundRect">
            <a:avLst>
              <a:gd name="adj" fmla="val 2667"/>
            </a:avLst>
          </a:prstGeom>
          <a:solidFill>
            <a:srgbClr val="F0F7FF"/>
          </a:solidFill>
          <a:ln w="17780">
            <a:solidFill>
              <a:srgbClr val="2867D9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2011680"/>
            <a:ext cx="2414016" cy="27432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406140"/>
            <a:ext cx="22311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Full scene preview]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2514600" cy="3794760"/>
          </a:xfrm>
          <a:prstGeom prst="roundRect">
            <a:avLst>
              <a:gd name="adj" fmla="val 2909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2011680"/>
            <a:ext cx="218541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3406140"/>
            <a:ext cx="2002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Zoom comparison — Bicubic | PAN | HAT — Region 1]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828800"/>
            <a:ext cx="2514600" cy="3794760"/>
          </a:xfrm>
          <a:prstGeom prst="roundRect">
            <a:avLst>
              <a:gd name="adj" fmla="val 2909"/>
            </a:avLst>
          </a:prstGeom>
          <a:solidFill>
            <a:srgbClr val="F0F7FF"/>
          </a:solidFill>
          <a:ln w="17780">
            <a:solidFill>
              <a:srgbClr val="7058E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011680"/>
            <a:ext cx="2185416" cy="27432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406140"/>
            <a:ext cx="2002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Zoom comparison — Bicubic | PAN | HAT — Region 2]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514600" cy="3794760"/>
          </a:xfrm>
          <a:prstGeom prst="roundRect">
            <a:avLst>
              <a:gd name="adj" fmla="val 2909"/>
            </a:avLst>
          </a:prstGeom>
          <a:solidFill>
            <a:srgbClr val="F0F7FF"/>
          </a:solidFill>
          <a:ln w="17780">
            <a:solidFill>
              <a:srgbClr val="E9932D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2011680"/>
            <a:ext cx="2185416" cy="27432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3406140"/>
            <a:ext cx="2002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Zoom comparison — Bicubic | PAN | HAT — Region 3]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FULL RESOLUTION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Why Full-Resolution Metrics Were Not Reported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Scientific metrics require a true high-resolution multispectral reference.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130552"/>
            <a:ext cx="54864" cy="104241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121408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Reduced-Resolution Wald Test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33856" y="2532888"/>
            <a:ext cx="43616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Ground truth available. Quantitative metrics are valid: PSNR, SSIM, SAM, ERGAS, and L1.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130552"/>
            <a:ext cx="54864" cy="10424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121408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Original Full Resolution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11696" y="2532888"/>
            <a:ext cx="43616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No true 6-band HR-MS reference exists at 0.3 m. Evaluation is qualitative and practical.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The Wald experiment provides quantitative evidence; full-resolution inference demonstrates deployment on the original scene.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11018520" cy="5577840"/>
          </a:xfrm>
          <a:prstGeom prst="rect">
            <a:avLst/>
          </a:prstGeom>
          <a:solidFill>
            <a:srgbClr val="113A78">
              <a:alpha val="88000"/>
            </a:srgbClr>
          </a:solidFill>
          <a:ln w="12700">
            <a:solidFill>
              <a:srgbClr val="5AB7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B7FF"/>
                </a:solidFill>
              </a:rPr>
              <a:t>SECTION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F"/>
                </a:solidFill>
              </a:rPr>
              <a:t>Limitations and Future Work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32588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Clear scientific boundaries and the next research steps.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44200" y="5257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B7FF"/>
                </a:solidFill>
              </a:rPr>
              <a:t>55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LIMITATIONS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Study Limitations — Data and Evaluation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results are strong within the current protocol, but not universal.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993392"/>
            <a:ext cx="54864" cy="8138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Single Scene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The local dataset mainly came from one geographic area.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D64B4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93392"/>
            <a:ext cx="54864" cy="813816"/>
          </a:xfrm>
          <a:prstGeom prst="rect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Small Local Set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Only 231 training patches and 22 test patches were available.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81381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No HR-MS GT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6148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Full-resolution PSNR/SSIM cannot be scientifically reported.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Differences of only a few hundredths in a metric should be interpreted carefully.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LIMITATIONS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Study Limitations — Sensor and Computation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Real-world deployment can introduce additional constraints.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E9932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993392"/>
            <a:ext cx="54864" cy="905256"/>
          </a:xfrm>
          <a:prstGeom prst="rect">
            <a:avLst/>
          </a:prstGeom>
          <a:solidFill>
            <a:srgbClr val="E9932D"/>
          </a:solidFill>
          <a:ln w="12700">
            <a:solidFill>
              <a:srgbClr val="E993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Wald Domain Gap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Synthetic degradation may not perfectly match real sensor behavior.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93392"/>
            <a:ext cx="54864" cy="90525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Sub-Pixel Misalignment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Small PAN–MS shifts may remain even after geographic alignment.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1993392"/>
            <a:ext cx="54864" cy="90525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Computational Cost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614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HAT requires more memory and time than a simple CNN.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These limitations define the next research directions rather than invalidate the current pipeline.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FUTURE 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Future Work Roadmap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next stage should validate, strengthen, and apply the SR output.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0" y="32004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Long HAT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Pretraining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32004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More Scenes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and Sensors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32004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3484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ARNet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Comparison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32004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Sentinel-SRGAN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Benchmark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09760" y="3200400"/>
            <a:ext cx="4572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Robust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Misalignment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0" y="278892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1552" y="2862072"/>
            <a:ext cx="117957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Solar Panel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2351"/>
                </a:solidFill>
              </a:rPr>
              <a:t>Detection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Priority: strengthen HAT with longer WV3 pretraining, then test ARNet and Sentinel-SRGAN under fair protocols.</a:t>
            </a: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FUTURE 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867D9"/>
                </a:solidFill>
              </a:rPr>
              <a:t>59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Downstream Task — Solar Panel Detection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practical value of super-resolution should be tested through detection performance.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867D9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59152"/>
            <a:ext cx="186537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Original 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697480"/>
            <a:ext cx="6858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228600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22A06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2359152"/>
            <a:ext cx="186537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HAT SR Output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697480"/>
            <a:ext cx="6858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9440" y="2286000"/>
            <a:ext cx="219456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7058E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2359152"/>
            <a:ext cx="20482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Solar Panel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Detector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2697480"/>
            <a:ext cx="685800" cy="0"/>
          </a:xfrm>
          <a:prstGeom prst="line">
            <a:avLst/>
          </a:prstGeom>
          <a:noFill/>
          <a:ln w="19050">
            <a:solidFill>
              <a:srgbClr val="B6C7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04120" y="22860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7FBFF"/>
          </a:solidFill>
          <a:ln w="13970">
            <a:solidFill>
              <a:srgbClr val="E9932D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7272" y="2359152"/>
            <a:ext cx="12710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51"/>
                </a:solidFill>
              </a:rPr>
              <a:t>Detections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43000" y="4069080"/>
            <a:ext cx="9875520" cy="1280160"/>
          </a:xfrm>
          <a:prstGeom prst="roundRect">
            <a:avLst>
              <a:gd name="adj" fmla="val 5714"/>
            </a:avLst>
          </a:prstGeom>
          <a:solidFill>
            <a:srgbClr val="F0F7FF"/>
          </a:solidFill>
          <a:ln w="17780">
            <a:solidFill>
              <a:srgbClr val="22A06B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07592" y="4251960"/>
            <a:ext cx="9546336" cy="274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4389120"/>
            <a:ext cx="93634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rooftop solar-panel detection concept or final best visual comparison]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CONCLUSION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900" b="1">
                <a:solidFill>
                  <a:srgbClr val="07275C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Main Contributions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project delivered a complete and validated pipeline, not only a single model.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4FF"/>
          </a:solidFill>
          <a:ln w="13970">
            <a:solidFill>
              <a:srgbClr val="2867D9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23544" y="1993392"/>
            <a:ext cx="54864" cy="859536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8813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Data Pipeline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395728"/>
            <a:ext cx="27614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Inspection, alignment, Wald protocol generation, and spatial splitting.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4FF"/>
          </a:solidFill>
          <a:ln w="13970">
            <a:solidFill>
              <a:srgbClr val="7058E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26864" y="1993392"/>
            <a:ext cx="54864" cy="859536"/>
          </a:xfrm>
          <a:prstGeom prst="rect">
            <a:avLst/>
          </a:prstGeom>
          <a:solidFill>
            <a:srgbClr val="7058E8"/>
          </a:solidFill>
          <a:ln w="12700">
            <a:solidFill>
              <a:srgbClr val="7058E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9145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Model Development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7614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Bicubic, Fusion CNN, HAT-PAN Fusion, transfer learning, and adaptive fusion.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4FF"/>
          </a:solidFill>
          <a:ln w="13970">
            <a:solidFill>
              <a:srgbClr val="22A06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30184" y="1993392"/>
            <a:ext cx="54864" cy="85953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94776" y="198424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2351"/>
                </a:solidFill>
              </a:rPr>
              <a:t>Full Output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94776" y="2395728"/>
            <a:ext cx="27614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</a:rPr>
              <a:t>Six-band HR-MS GeoTIFF at approximately 0.3 m/pixel.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The final system is suitable for further remote-sensing tasks such as solar-panel detection.</a:t>
            </a:r>
            <a:endParaRPr 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3774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351"/>
                </a:solidFill>
              </a:rPr>
              <a:t>HOME      ABOUT      CONTENT      RESULTS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321040" y="2103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2351"/>
                </a:solidFill>
              </a:rPr>
              <a:t>THYNK SUPER-RESOLUTION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C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382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67D9"/>
                </a:solidFill>
              </a:rPr>
              <a:t>CONCLUSION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900" b="1">
                <a:solidFill>
                  <a:srgbClr val="07275C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8" name="Text 6"/>
          <p:cNvSpPr/>
          <p:nvPr/>
        </p:nvSpPr>
        <p:spPr>
          <a:xfrm>
            <a:off x="658368" y="74980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2351"/>
                </a:solidFill>
              </a:rPr>
              <a:t>Final Conclusion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7512" y="1261872"/>
            <a:ext cx="1143000" cy="45720"/>
          </a:xfrm>
          <a:prstGeom prst="rect">
            <a:avLst/>
          </a:prstGeom>
          <a:solidFill>
            <a:srgbClr val="2867D9"/>
          </a:solidFill>
          <a:ln w="12700">
            <a:solidFill>
              <a:srgbClr val="2867D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138988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58E"/>
                </a:solidFill>
              </a:rPr>
              <a:t>The WV3-pretrained HAT-PAN Fusion framework achieved the strongest overall reconstruction.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2867D9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0976" y="2093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67D9"/>
                </a:solidFill>
              </a:rPr>
              <a:t>25.3574 dB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50976" y="25328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Best PSNR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2825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WV3-Transfer HAT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19659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31336" y="2093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0.92119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831336" y="25328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Best SSIM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2825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OOF Adaptive Gate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19659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22A06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11696" y="2093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1.88268°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711696" y="25328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Best SAM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11696" y="2825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OOF Adaptive Gate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64040" y="196596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5240">
            <a:solidFill>
              <a:srgbClr val="7058E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92056" y="20939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58E8"/>
                </a:solidFill>
              </a:rPr>
              <a:t>0.3 m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592056" y="253288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51"/>
                </a:solidFill>
              </a:rPr>
              <a:t>Final GSD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92056" y="282549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58E"/>
                </a:solidFill>
              </a:rPr>
              <a:t>Full output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1560" y="4800600"/>
            <a:ext cx="10058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51"/>
                </a:solidFill>
              </a:rPr>
              <a:t>The project enhanced six-band multispectral imagery from approximately 1.2 m to 0.3 m while preserving spectral consistency and improving spatial detail.</a:t>
            </a:r>
            <a:endParaRPr lang="en-US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23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51"/>
          </a:solidFill>
          <a:ln w="12700">
            <a:solidFill>
              <a:srgbClr val="0A235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11430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B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EFF"/>
                </a:solidFill>
              </a:rPr>
              <a:t>Satellite Image Super-Resolution Using WV3-Transfer HAT-PAN Fusion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1463040" cy="7315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26680" y="128016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0F7FF"/>
          </a:solidFill>
          <a:ln w="17780">
            <a:solidFill>
              <a:srgbClr val="5AB7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91272" y="1463040"/>
            <a:ext cx="3145536" cy="27432"/>
          </a:xfrm>
          <a:prstGeom prst="rect">
            <a:avLst/>
          </a:prstGeom>
          <a:solidFill>
            <a:srgbClr val="5AB7FF"/>
          </a:solidFill>
          <a:ln w="12700">
            <a:solidFill>
              <a:srgbClr val="5AB7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82712" y="2423160"/>
            <a:ext cx="2962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51"/>
                </a:solidFill>
              </a:rPr>
              <a:t>[INSERT PROJECT IMAGE: Final best visual comparison]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BFF"/>
                </a:solidFill>
              </a:rPr>
              <a:t>Final Product: 6-band HR-MS GeoTIFF at approximately 0.3 m/pixel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01400" y="6327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900" b="1">
                <a:solidFill>
                  <a:srgbClr val="07275C"/>
                </a:solidFill>
                <a:latin typeface="Aptos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55448"/>
            <a:ext cx="49377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7275C"/>
                </a:solidFill>
                <a:latin typeface="Aptos"/>
              </a:defRPr>
            </a:pPr>
            <a: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291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A71FF"/>
                </a:solidFill>
                <a:latin typeface="Aptos"/>
              </a:defRPr>
            </a:pPr>
            <a: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5544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7275C"/>
                </a:solidFill>
                <a:latin typeface="Aptos"/>
              </a:defRPr>
            </a:pPr>
            <a:r>
              <a:t>SENTINEL-GAN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931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7275C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85800"/>
            <a:ext cx="11567160" cy="10972"/>
          </a:xfrm>
          <a:prstGeom prst="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7132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75C"/>
                </a:solidFill>
                <a:latin typeface="Aptos Display"/>
              </a:defRPr>
            </a:pPr>
            <a:r>
              <a:t>Sentinel-2 Held-Out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29844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06F84"/>
                </a:solidFill>
                <a:latin typeface="Aptos"/>
              </a:defRPr>
            </a:pPr>
            <a:r>
              <a:t>Separate single-image SR experiment: HAT-S2 vs OpenSR-SRGAN on SEN2NAIP held-out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627632"/>
            <a:ext cx="1417320" cy="50292"/>
          </a:xfrm>
          <a:prstGeom prst="rect">
            <a:avLst/>
          </a:prstGeom>
          <a:solidFill>
            <a:srgbClr val="2A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874519"/>
            <a:ext cx="1234440" cy="475488"/>
          </a:xfrm>
          <a:prstGeom prst="round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73352" y="1874519"/>
            <a:ext cx="1600200" cy="475488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874519"/>
            <a:ext cx="1005840" cy="475488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PSNR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874519"/>
            <a:ext cx="1005840" cy="475488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SSIM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85232" y="1874519"/>
            <a:ext cx="1005840" cy="475488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SAM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50007"/>
            <a:ext cx="12344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SEN2NAIP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3352" y="2350007"/>
            <a:ext cx="160020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Bicubic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350007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9.4427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2350007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0.3080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5232" y="2350007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22.2390°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2825495"/>
            <a:ext cx="1234440" cy="475488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SEN2NAIP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3352" y="2825495"/>
            <a:ext cx="1600200" cy="475488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HAT-S2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2825495"/>
            <a:ext cx="1005840" cy="475488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14.1224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2825495"/>
            <a:ext cx="1005840" cy="475488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0.5497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85232" y="2825495"/>
            <a:ext cx="1005840" cy="475488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8.3493°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300983"/>
            <a:ext cx="12344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SEN2NAIP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3352" y="3300983"/>
            <a:ext cx="160020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OpenSR-SRGAN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3300983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9.4364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3300983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0.3060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5232" y="3300983"/>
            <a:ext cx="1005840" cy="475488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22.2609°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874519"/>
            <a:ext cx="1600200" cy="109728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2A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2A71FF"/>
                </a:solidFill>
                <a:latin typeface="Aptos"/>
              </a:defRPr>
            </a:pPr>
            <a:r>
              <a:t>Best PSNR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14.12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HAT-S2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1874519"/>
            <a:ext cx="1600200" cy="109728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78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7860FF"/>
                </a:solidFill>
                <a:latin typeface="Aptos"/>
              </a:defRPr>
            </a:pPr>
            <a:r>
              <a:t>Best SSIM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0.550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HAT-S2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1874519"/>
            <a:ext cx="1600200" cy="109728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21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21A070"/>
                </a:solidFill>
                <a:latin typeface="Aptos"/>
              </a:defRPr>
            </a:pPr>
            <a:r>
              <a:t>Best SAM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8.35°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HAT-S2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218688"/>
            <a:ext cx="5074920" cy="1600200"/>
          </a:xfrm>
          <a:prstGeom prst="roundRect">
            <a:avLst/>
          </a:prstGeom>
          <a:solidFill>
            <a:srgbClr val="ECF3FF"/>
          </a:solidFill>
          <a:ln w="17780">
            <a:solidFill>
              <a:srgbClr val="2A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defRPr sz="1600" b="1">
                <a:solidFill>
                  <a:srgbClr val="2A71FF"/>
                </a:solidFill>
                <a:latin typeface="Aptos Display"/>
              </a:defRPr>
            </a:pPr>
            <a:r>
              <a:t>Main Result</a:t>
            </a:r>
          </a:p>
          <a:p>
            <a:pPr>
              <a:spcBef>
                <a:spcPts val="800"/>
              </a:spcBef>
              <a:defRPr sz="1250">
                <a:solidFill>
                  <a:srgbClr val="07275C"/>
                </a:solidFill>
                <a:latin typeface="Aptos"/>
              </a:defRPr>
            </a:pPr>
            <a:r>
              <a:t>On the SEN2NAIP held-out split, HAT-S2 clearly outperformed both Bicubic and OpenSR-SRGAN across PSNR, SSIM, and SAM.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4224528"/>
            <a:ext cx="6126480" cy="1417320"/>
          </a:xfrm>
          <a:prstGeom prst="roundRect">
            <a:avLst/>
          </a:prstGeom>
          <a:solidFill>
            <a:srgbClr val="ECF3FF"/>
          </a:solidFill>
          <a:ln w="17780">
            <a:solidFill>
              <a:srgbClr val="21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defRPr sz="1600" b="1">
                <a:solidFill>
                  <a:srgbClr val="21A070"/>
                </a:solidFill>
                <a:latin typeface="Aptos Display"/>
              </a:defRPr>
            </a:pPr>
            <a:r>
              <a:t>Interpretation</a:t>
            </a:r>
          </a:p>
          <a:p>
            <a:pPr>
              <a:spcBef>
                <a:spcPts val="800"/>
              </a:spcBef>
              <a:defRPr sz="1250">
                <a:solidFill>
                  <a:srgbClr val="07275C"/>
                </a:solidFill>
                <a:latin typeface="Aptos"/>
              </a:defRPr>
            </a:pPr>
            <a:r>
              <a:t>The GAN output did not improve this held-out split. HAT-S2 produced a stronger reconstruction and much better spectral-angle consistency.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5047488"/>
            <a:ext cx="5074920" cy="822960"/>
          </a:xfrm>
          <a:prstGeom prst="roundRect">
            <a:avLst/>
          </a:prstGeom>
          <a:solidFill>
            <a:srgbClr val="ECF3FF"/>
          </a:solidFill>
          <a:ln w="17780">
            <a:solidFill>
              <a:srgbClr val="F3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>
              <a:defRPr sz="1600" b="1">
                <a:solidFill>
                  <a:srgbClr val="F38B23"/>
                </a:solidFill>
                <a:latin typeface="Aptos Display"/>
              </a:defRPr>
            </a:pPr>
            <a:r>
              <a:t>Important Scope Note</a:t>
            </a:r>
          </a:p>
          <a:p>
            <a:pPr>
              <a:spcBef>
                <a:spcPts val="800"/>
              </a:spcBef>
              <a:defRPr sz="1250">
                <a:solidFill>
                  <a:srgbClr val="07275C"/>
                </a:solidFill>
                <a:latin typeface="Aptos"/>
              </a:defRPr>
            </a:pPr>
            <a:r>
              <a:t>This is a Sentinel-2 SISR benchmark, not the same task as PAN-guided HAT pansharpening.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606F84"/>
                </a:solidFill>
                <a:latin typeface="Aptos"/>
              </a:defRPr>
            </a:pPr>
            <a:r>
              <a:t>Higher PSNR/SSIM is better. Lower SAM is better. Results are reported exactly from the Sentinel-2 benchmark run.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55448"/>
            <a:ext cx="49377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7275C"/>
                </a:solidFill>
                <a:latin typeface="Aptos"/>
              </a:defRPr>
            </a:pPr>
            <a:r>
              <a:t>HOME      ABOUT      CONTENT    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3291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A71FF"/>
                </a:solidFill>
                <a:latin typeface="Aptos"/>
              </a:defRPr>
            </a:pPr>
            <a:r>
              <a:t>THYNK SUPER-RESOLUTION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5544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7275C"/>
                </a:solidFill>
                <a:latin typeface="Aptos"/>
              </a:defRPr>
            </a:pPr>
            <a:r>
              <a:t>SENTINEL-GAN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931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7275C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85800"/>
            <a:ext cx="11567160" cy="10972"/>
          </a:xfrm>
          <a:prstGeom prst="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7132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75C"/>
                </a:solidFill>
                <a:latin typeface="Aptos Display"/>
              </a:defRPr>
            </a:pPr>
            <a:r>
              <a:t>OpenSR Cross-Dataset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29844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06F84"/>
                </a:solidFill>
                <a:latin typeface="Aptos"/>
              </a:defRPr>
            </a:pPr>
            <a:r>
              <a:t>HAT-S2 and OpenSR-SRGAN were evaluated on multiple OpenSR benchmark subsets.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627632"/>
            <a:ext cx="1417320" cy="50292"/>
          </a:xfrm>
          <a:prstGeom prst="rect">
            <a:avLst/>
          </a:prstGeom>
          <a:solidFill>
            <a:srgbClr val="2A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828800"/>
            <a:ext cx="1828800" cy="512064"/>
          </a:xfrm>
          <a:prstGeom prst="round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1828800"/>
            <a:ext cx="914400" cy="512064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828800"/>
            <a:ext cx="2057400" cy="512064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PSNR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9512" y="1828800"/>
            <a:ext cx="2057400" cy="512064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SSIM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6912" y="1828800"/>
            <a:ext cx="2057400" cy="512064"/>
          </a:xfrm>
          <a:prstGeom prst="rect">
            <a:avLst/>
          </a:prstGeom>
          <a:solidFill>
            <a:srgbClr val="2A71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SAM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40864"/>
            <a:ext cx="18288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NAIP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2340864"/>
            <a:ext cx="914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2340864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20.70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9512" y="2340864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0.7245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2340864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HAT 26.11°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2852928"/>
            <a:ext cx="18288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SPOT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2852928"/>
            <a:ext cx="914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2852928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20.68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9512" y="2852928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HAT 0.6976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2852928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HAT 19.81°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364992"/>
            <a:ext cx="18288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Spain Crops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3364992"/>
            <a:ext cx="914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364992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19.99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9512" y="3364992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0.6769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2057400" cy="512064"/>
          </a:xfrm>
          <a:prstGeom prst="rect">
            <a:avLst/>
          </a:prstGeom>
          <a:solidFill>
            <a:srgbClr val="F8FB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HAT 26.35°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3877056"/>
            <a:ext cx="18288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2A71FF"/>
                </a:solidFill>
                <a:latin typeface="Aptos"/>
              </a:defRPr>
            </a:pPr>
            <a:r>
              <a:t>Spain Urban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7712" y="3877056"/>
            <a:ext cx="914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1">
                <a:solidFill>
                  <a:srgbClr val="07275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2112" y="3877056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20.84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9512" y="3877056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OpenSR 0.5759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2" y="3877056"/>
            <a:ext cx="2057400" cy="512064"/>
          </a:xfrm>
          <a:prstGeom prst="rect">
            <a:avLst/>
          </a:prstGeom>
          <a:solidFill>
            <a:srgbClr val="EEF5FF"/>
          </a:solidFill>
          <a:ln w="10160">
            <a:solidFill>
              <a:srgbClr val="D2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>
              <a:defRPr sz="1200" b="0">
                <a:solidFill>
                  <a:srgbClr val="07275C"/>
                </a:solidFill>
                <a:latin typeface="Aptos"/>
              </a:defRPr>
            </a:pPr>
            <a:r>
              <a:t>HAT 24.03°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26280"/>
            <a:ext cx="3566160" cy="114300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F3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F38B23"/>
                </a:solidFill>
                <a:latin typeface="Aptos"/>
              </a:defRPr>
            </a:pPr>
            <a:r>
              <a:t>PSNR Winner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OpenSR-SRGAN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higher PSNR on all 4 benchmark subsets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526280"/>
            <a:ext cx="3566160" cy="114300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78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7860FF"/>
                </a:solidFill>
                <a:latin typeface="Aptos"/>
              </a:defRPr>
            </a:pPr>
            <a:r>
              <a:t>SSIM Pattern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OpenSR 3 / HAT 1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HAT led SSIM only on SPOT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4526280"/>
            <a:ext cx="3566160" cy="1143000"/>
          </a:xfrm>
          <a:prstGeom prst="roundRect">
            <a:avLst/>
          </a:prstGeom>
          <a:solidFill>
            <a:srgbClr val="F6FAFF"/>
          </a:solidFill>
          <a:ln w="17780">
            <a:solidFill>
              <a:srgbClr val="21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/>
          <a:lstStyle/>
          <a:p>
            <a:pPr algn="ctr">
              <a:defRPr sz="1100" b="1">
                <a:solidFill>
                  <a:srgbClr val="21A070"/>
                </a:solidFill>
                <a:latin typeface="Aptos"/>
              </a:defRPr>
            </a:pPr>
            <a:r>
              <a:t>SAM Winner</a:t>
            </a:r>
          </a:p>
          <a:p>
            <a:pPr algn="ctr">
              <a:defRPr sz="2200" b="1">
                <a:solidFill>
                  <a:srgbClr val="07275C"/>
                </a:solidFill>
                <a:latin typeface="Aptos Display"/>
              </a:defRPr>
            </a:pPr>
            <a:r>
              <a:t>HAT-S2</a:t>
            </a:r>
          </a:p>
          <a:p>
            <a:pPr algn="ctr">
              <a:defRPr sz="850">
                <a:solidFill>
                  <a:srgbClr val="606F84"/>
                </a:solidFill>
                <a:latin typeface="Aptos"/>
              </a:defRPr>
            </a:pPr>
            <a:r>
              <a:t>lower SAM on all 4 benchmark subsets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11247120" cy="530352"/>
          </a:xfrm>
          <a:prstGeom prst="roundRect">
            <a:avLst/>
          </a:prstGeom>
          <a:solidFill>
            <a:srgbClr val="ECF3FF"/>
          </a:solidFill>
          <a:ln w="17780">
            <a:solidFill>
              <a:srgbClr val="2A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320" b="1">
                <a:solidFill>
                  <a:srgbClr val="07275C"/>
                </a:solidFill>
                <a:latin typeface="Aptos"/>
              </a:defRPr>
            </a:pPr>
            <a:r>
              <a:t>Balanced reading: OpenSR-SRGAN is stronger in PSNR, while HAT-S2 is consistently better in SAM.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606F84"/>
                </a:solidFill>
                <a:latin typeface="Aptos"/>
              </a:defRPr>
            </a:pPr>
            <a:r>
              <a:t>Keep Sentinel-SRGAN as a separate benchmark branch; do not compare its numbers directly with PAN-guided HAT pansharpening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Image Super-Resolution Using Deep Learning</dc:title>
  <dc:subject>Satellite Image Super-Resolution</dc:subject>
  <dc:creator>OpenAI</dc:creator>
  <cp:lastModifiedBy>OpenAI</cp:lastModifiedBy>
  <cp:revision>1</cp:revision>
  <dcterms:created xsi:type="dcterms:W3CDTF">2026-08-01T22:09:55Z</dcterms:created>
  <dcterms:modified xsi:type="dcterms:W3CDTF">2026-08-01T22:09:55Z</dcterms:modified>
</cp:coreProperties>
</file>