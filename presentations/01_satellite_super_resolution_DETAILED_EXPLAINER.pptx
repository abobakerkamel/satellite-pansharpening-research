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</p:sldIdLst>
  <p:notesMasterIdLst>
    <p:notesMasterId r:id="rId1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notesMaster" Target="notesMasters/notesMaster1.xml"/><Relationship Id="rId124" Type="http://schemas.openxmlformats.org/officeDocument/2006/relationships/presProps" Target="presProps.xml"/><Relationship Id="rId125" Type="http://schemas.openxmlformats.org/officeDocument/2006/relationships/viewProps" Target="viewProps.xml"/><Relationship Id="rId126" Type="http://schemas.openxmlformats.org/officeDocument/2006/relationships/theme" Target="theme/theme1.xml"/><Relationship Id="rId1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specify an exact normalization range unless it is available. This slide explains the concept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EF1"/>
                </a:solidFill>
              </a:rPr>
              <a:t>SATELLITE SUPER-RESOLUTION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02A56"/>
                </a:solidFill>
              </a:rPr>
              <a:t>Satellite Image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02A56"/>
                </a:solidFill>
              </a:rPr>
              <a:t>Super-Resolution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02A56"/>
                </a:solidFill>
              </a:rPr>
              <a:t>and Pansharpening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3154680"/>
            <a:ext cx="1600200" cy="8229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566160"/>
            <a:ext cx="62179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A complete explanatory deck covering data preparation, CNN, HAT, transfer learning, adaptive fusion, evaluation, full-resolution inference, and Sentinel-SRGAN comparison.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51663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×4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Scale Factor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1.2 m → 0.3 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46120" y="51663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Output Bands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HR-MS GeoTIFF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51663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HAT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Core 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PAN-guided fusion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0" y="1170432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EEF7FF"/>
          </a:solidFill>
          <a:ln w="19050">
            <a:solidFill>
              <a:srgbClr val="276EF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[OPTIONAL HERO IMAGE: final satellite result or abstract satellite visual]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GUIDE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How to Read This Deck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Each technical idea is explained using the same simple pattern.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25146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1. Meaning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What the technique is in simple words.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" y="1993392"/>
            <a:ext cx="54864" cy="209397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828800"/>
            <a:ext cx="25146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2. Reason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Why it was needed in this project.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38728" y="1993392"/>
            <a:ext cx="54864" cy="209397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828800"/>
            <a:ext cx="25146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3. Application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How it was implemented in the workflow.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81928" y="1993392"/>
            <a:ext cx="54864" cy="209397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828800"/>
            <a:ext cx="25146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4. Impact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What benefit, limitation, or result it produced.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25128" y="1993392"/>
            <a:ext cx="54864" cy="20939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166360"/>
            <a:ext cx="9875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02A56"/>
                </a:solidFill>
              </a:rPr>
              <a:t>This structure makes the deck useful for both presentation and self-study.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ROADMAP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Presentation Roadmap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From satellite data to final reconstruction and model comparison.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2148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56"/>
                </a:solidFill>
              </a:rPr>
              <a:t>1. Project Goal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2697480" y="2167128"/>
            <a:ext cx="365760" cy="0"/>
          </a:xfrm>
          <a:prstGeom prst="line">
            <a:avLst/>
          </a:prstGeom>
          <a:noFill/>
          <a:ln w="15240">
            <a:solidFill>
              <a:srgbClr val="BFD6F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337560" y="1828800"/>
            <a:ext cx="2148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56"/>
                </a:solidFill>
              </a:rPr>
              <a:t>2. Satellite Data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486400" y="2167128"/>
            <a:ext cx="365760" cy="0"/>
          </a:xfrm>
          <a:prstGeom prst="line">
            <a:avLst/>
          </a:prstGeom>
          <a:noFill/>
          <a:ln w="15240">
            <a:solidFill>
              <a:srgbClr val="BFD6F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126480" y="1828800"/>
            <a:ext cx="2148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56"/>
                </a:solidFill>
              </a:rPr>
              <a:t>3. Preprocessing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275320" y="2167128"/>
            <a:ext cx="365760" cy="0"/>
          </a:xfrm>
          <a:prstGeom prst="line">
            <a:avLst/>
          </a:prstGeom>
          <a:noFill/>
          <a:ln w="15240">
            <a:solidFill>
              <a:srgbClr val="BFD6F2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915400" y="1828800"/>
            <a:ext cx="2148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56"/>
                </a:solidFill>
              </a:rPr>
              <a:t>4. Wald Dataset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2148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56"/>
                </a:solidFill>
              </a:rPr>
              <a:t>5. Baselines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2697480" y="3493008"/>
            <a:ext cx="365760" cy="0"/>
          </a:xfrm>
          <a:prstGeom prst="line">
            <a:avLst/>
          </a:prstGeom>
          <a:noFill/>
          <a:ln w="15240">
            <a:solidFill>
              <a:srgbClr val="BFD6F2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337560" y="3154680"/>
            <a:ext cx="2148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56"/>
                </a:solidFill>
              </a:rPr>
              <a:t>6. HAT Model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5486400" y="3493008"/>
            <a:ext cx="365760" cy="0"/>
          </a:xfrm>
          <a:prstGeom prst="line">
            <a:avLst/>
          </a:prstGeom>
          <a:noFill/>
          <a:ln w="15240">
            <a:solidFill>
              <a:srgbClr val="BFD6F2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126480" y="3154680"/>
            <a:ext cx="2148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56"/>
                </a:solidFill>
              </a:rPr>
              <a:t>7. Transfer Learning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8275320" y="3493008"/>
            <a:ext cx="365760" cy="0"/>
          </a:xfrm>
          <a:prstGeom prst="line">
            <a:avLst/>
          </a:prstGeom>
          <a:noFill/>
          <a:ln w="15240">
            <a:solidFill>
              <a:srgbClr val="BFD6F2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915400" y="3154680"/>
            <a:ext cx="2148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56"/>
                </a:solidFill>
              </a:rPr>
              <a:t>8. Adaptive Fusion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548640" y="4480560"/>
            <a:ext cx="2148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56"/>
                </a:solidFill>
              </a:rPr>
              <a:t>9. Evaluation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2697480" y="4818888"/>
            <a:ext cx="365760" cy="0"/>
          </a:xfrm>
          <a:prstGeom prst="line">
            <a:avLst/>
          </a:prstGeom>
          <a:noFill/>
          <a:ln w="15240">
            <a:solidFill>
              <a:srgbClr val="BFD6F2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337560" y="4480560"/>
            <a:ext cx="2148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56"/>
                </a:solidFill>
              </a:rPr>
              <a:t>10. Full Output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5486400" y="4818888"/>
            <a:ext cx="365760" cy="0"/>
          </a:xfrm>
          <a:prstGeom prst="line">
            <a:avLst/>
          </a:prstGeom>
          <a:noFill/>
          <a:ln w="15240">
            <a:solidFill>
              <a:srgbClr val="BFD6F2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126480" y="4480560"/>
            <a:ext cx="2148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56"/>
                </a:solidFill>
              </a:rPr>
              <a:t>11. Sentinel GAN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8275320" y="4818888"/>
            <a:ext cx="365760" cy="0"/>
          </a:xfrm>
          <a:prstGeom prst="line">
            <a:avLst/>
          </a:prstGeom>
          <a:noFill/>
          <a:ln w="15240">
            <a:solidFill>
              <a:srgbClr val="BFD6F2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915400" y="4480560"/>
            <a:ext cx="2148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56"/>
                </a:solidFill>
              </a:rPr>
              <a:t>12. Future Work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0972800" cy="5486400"/>
          </a:xfrm>
          <a:prstGeom prst="rect">
            <a:avLst/>
          </a:prstGeom>
          <a:solidFill>
            <a:srgbClr val="163C78">
              <a:alpha val="96000"/>
            </a:srgbClr>
          </a:solidFill>
          <a:ln w="13970">
            <a:solidFill>
              <a:srgbClr val="66B9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60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9FF"/>
                </a:solidFill>
              </a:rPr>
              <a:t>SECTION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Project and Satellite Data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60120" y="3044952"/>
            <a:ext cx="1645920" cy="73152"/>
          </a:xfrm>
          <a:prstGeom prst="rect">
            <a:avLst/>
          </a:prstGeom>
          <a:solidFill>
            <a:srgbClr val="66B9FF"/>
          </a:solidFill>
          <a:ln w="12700">
            <a:solidFill>
              <a:srgbClr val="66B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2FF"/>
                </a:solidFill>
              </a:rPr>
              <a:t>Understanding what the inputs are and why the enhancement problem exists.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44200" y="5376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6B9FF"/>
                </a:solidFill>
              </a:rPr>
              <a:t>04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MOTIVATION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Why Satellite Super-Resolution?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Satellite images often trade spectral richness for spatial detail.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54864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1C2E46"/>
                </a:solidFill>
              </a:rPr>
              <a:t>Multispectral imagery contains information across multiple wavelength bands.</a:t>
            </a:r>
            <a:endParaRPr lang="en-US" sz="2000" dirty="0"/>
          </a:p>
          <a:p>
            <a:r>
              <a:rPr lang="en-US" sz="2000" dirty="0">
                <a:solidFill>
                  <a:srgbClr val="1C2E46"/>
                </a:solidFill>
              </a:rPr>
              <a:t>Panchromatic imagery usually has sharper spatial detail but only one broad band.</a:t>
            </a:r>
            <a:endParaRPr lang="en-US" sz="2000" dirty="0"/>
          </a:p>
          <a:p>
            <a:r>
              <a:rPr lang="en-US" sz="2000" dirty="0">
                <a:solidFill>
                  <a:srgbClr val="1C2E46"/>
                </a:solidFill>
              </a:rPr>
              <a:t>The goal is to combine both into a high-resolution multispectral image.</a:t>
            </a:r>
            <a:endParaRPr lang="en-US" sz="2000" dirty="0"/>
          </a:p>
          <a:p>
            <a:r>
              <a:rPr lang="en-US" sz="2000" dirty="0">
                <a:solidFill>
                  <a:srgbClr val="1C2E46"/>
                </a:solidFill>
              </a:rPr>
              <a:t>This improves visual interpretation and prepares data for downstream detection tasks.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1874520"/>
            <a:ext cx="4663440" cy="3337560"/>
          </a:xfrm>
          <a:prstGeom prst="roundRect">
            <a:avLst>
              <a:gd name="adj" fmla="val 2192"/>
            </a:avLst>
          </a:prstGeom>
          <a:solidFill>
            <a:srgbClr val="EEF7FF"/>
          </a:solidFill>
          <a:ln w="19050">
            <a:solidFill>
              <a:srgbClr val="276EF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MS vs PAN visual comparison]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PROBLEM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The Core Problem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We want high spatial resolution without losing spectral information.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D84C4C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Problem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The multispectral image is rich in spectral information but lower in spatial resolution. Small objects and edges appear less clear.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D84C4C"/>
          </a:solidFill>
          <a:ln w="12700">
            <a:solidFill>
              <a:srgbClr val="D84C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Solution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Use the high-resolution PAN image as spatial guidance while preserving the six multispectral bands.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OBJECTIVE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Input and Output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task is a four-times PAN-guided super-resolution problem.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24688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Input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LR-MS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6 bands • ≈1.2 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24688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Input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HR-PAN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1 band • ≈0.3 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2514600"/>
            <a:ext cx="1097280" cy="576072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74720" y="4297680"/>
            <a:ext cx="1097280" cy="-566928"/>
          </a:xfrm>
          <a:prstGeom prst="line">
            <a:avLst/>
          </a:prstGeom>
          <a:noFill/>
          <a:ln w="1905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800600" y="297180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CF5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PAN-Guided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Deep Model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60920" y="3429000"/>
            <a:ext cx="960120" cy="0"/>
          </a:xfrm>
          <a:prstGeom prst="line">
            <a:avLst/>
          </a:prstGeom>
          <a:noFill/>
          <a:ln w="19050">
            <a:solidFill>
              <a:srgbClr val="21A67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549640" y="297180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Output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HR-MS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6 bands • ≈0.3 m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OBJECTIVES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Project Objectives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project is a full pipeline, not only a model experiment.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Spatial Enhancement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Enhance the MS image from approximately 1.2 m to 0.3 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4088" y="1993392"/>
            <a:ext cx="54864" cy="8138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8288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Spectral Preservation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Keep the six-band multispectral information consistent.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53128" y="1993392"/>
            <a:ext cx="54864" cy="81381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8288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Sharper Objects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Recover buildings, roads, roof edges, and small objects.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02168" y="1993392"/>
            <a:ext cx="54864" cy="8138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9476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Model Comparison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Compare Bicubic, CNN, HAT, adaptive fusion, and Sentinel-SRGAN.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4088" y="3959352"/>
            <a:ext cx="54864" cy="8138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379476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Full Output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Produce a six-band high-resolution GeoTIFF.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53128" y="3959352"/>
            <a:ext cx="54864" cy="8138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379476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Detection Readiness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Prepare for future solar-panel detection.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02168" y="3959352"/>
            <a:ext cx="54864" cy="81381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CONTRIBUTIONS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Main Contributions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work covers data, models, validation, and deployment.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10652760" cy="3200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Geospatial preprocessing and alignment of MS and PAN imagery.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Reduced-resolution supervised dataset using the Wald protocol.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PAN-guided Fusion CNN and modified HAT-PAN Fusion architecture.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WorldView-3 transfer learning from 8-band source to 6-band target.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Spatial out-of-fold adaptive fusion and full-resolution tiled inference.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SATELLITE DATA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What Is a Multispectral Image?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MS imagery provides spectral information across several bands.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50292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1C2E46"/>
                </a:solidFill>
              </a:rPr>
              <a:t>Each band records a different wavelength range.</a:t>
            </a:r>
            <a:endParaRPr lang="en-US" sz="2000" dirty="0"/>
          </a:p>
          <a:p>
            <a:r>
              <a:rPr lang="en-US" sz="2000" dirty="0">
                <a:solidFill>
                  <a:srgbClr val="1C2E46"/>
                </a:solidFill>
              </a:rPr>
              <a:t>Useful for distinguishing materials and land-cover classes.</a:t>
            </a:r>
            <a:endParaRPr lang="en-US" sz="2000" dirty="0"/>
          </a:p>
          <a:p>
            <a:r>
              <a:rPr lang="en-US" sz="2000" dirty="0">
                <a:solidFill>
                  <a:srgbClr val="1C2E46"/>
                </a:solidFill>
              </a:rPr>
              <a:t>Our local MS image contains six spectral bands.</a:t>
            </a:r>
            <a:endParaRPr lang="en-US" sz="2000" dirty="0"/>
          </a:p>
          <a:p>
            <a:r>
              <a:rPr lang="en-US" sz="2000" dirty="0">
                <a:solidFill>
                  <a:srgbClr val="1C2E46"/>
                </a:solidFill>
              </a:rPr>
              <a:t>Limitation: its spatial resolution is lower than the PAN image.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4800600" cy="3246120"/>
          </a:xfrm>
          <a:prstGeom prst="roundRect">
            <a:avLst>
              <a:gd name="adj" fmla="val 2254"/>
            </a:avLst>
          </a:prstGeom>
          <a:solidFill>
            <a:srgbClr val="EEF7FF"/>
          </a:solidFill>
          <a:ln w="19050">
            <a:solidFill>
              <a:srgbClr val="276EF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Aligned multispectral preview]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SATELLITE DATA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What Is a Panchromatic Image?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PAN imagery provides the sharpest spatial structures.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50292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1C2E46"/>
                </a:solidFill>
              </a:rPr>
              <a:t>It is usually a single grayscale broad-band image.</a:t>
            </a:r>
            <a:endParaRPr lang="en-US" sz="2000" dirty="0"/>
          </a:p>
          <a:p>
            <a:r>
              <a:rPr lang="en-US" sz="2000" dirty="0">
                <a:solidFill>
                  <a:srgbClr val="1C2E46"/>
                </a:solidFill>
              </a:rPr>
              <a:t>It shows clearer edges, roads, roof boundaries, and small objects.</a:t>
            </a:r>
            <a:endParaRPr lang="en-US" sz="2000" dirty="0"/>
          </a:p>
          <a:p>
            <a:r>
              <a:rPr lang="en-US" sz="2000" dirty="0">
                <a:solidFill>
                  <a:srgbClr val="1C2E46"/>
                </a:solidFill>
              </a:rPr>
              <a:t>Strength: higher spatial resolution.</a:t>
            </a:r>
            <a:endParaRPr lang="en-US" sz="2000" dirty="0"/>
          </a:p>
          <a:p>
            <a:r>
              <a:rPr lang="en-US" sz="2000" dirty="0">
                <a:solidFill>
                  <a:srgbClr val="1C2E46"/>
                </a:solidFill>
              </a:rPr>
              <a:t>Limitation: it does not contain full spectral information.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4800600" cy="3246120"/>
          </a:xfrm>
          <a:prstGeom prst="roundRect">
            <a:avLst>
              <a:gd name="adj" fmla="val 2254"/>
            </a:avLst>
          </a:prstGeom>
          <a:solidFill>
            <a:srgbClr val="EEF7FF"/>
          </a:solidFill>
          <a:ln w="19050">
            <a:solidFill>
              <a:srgbClr val="7B61FF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Aligned panchromatic preview]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SATELLITE DATA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Spatial Resolution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 smaller ground sampling distance means sharper image detail.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4892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1.2 m/pixel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Each pixel represents roughly 1.2 meters on the ground. This is the original MS resolution.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5528" y="2176272"/>
            <a:ext cx="54864" cy="177393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011680"/>
            <a:ext cx="4892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0.3 m/pixel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Each pixel represents roughly 0.3 meters. This is the PAN resolution and the desired final output resolution.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64808" y="2176272"/>
            <a:ext cx="54864" cy="177393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21208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02A56"/>
                </a:solidFill>
              </a:rPr>
              <a:t>Going from 1.2 m to 0.3 m is a four-times increase in each spatial dimension.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SATELLITE DATA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Spectral Resolution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number of bands matters in remote sensing.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548640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Spectral resolution describes how many wavelength bands are available.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More bands can help distinguish surfaces with similar visual appearance.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The project must not simply sharpen the image visually; it must preserve the six-band spectral content.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20840" y="2011680"/>
            <a:ext cx="4251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Key Requirement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The final product must be a six-band HR-MS image, not only an RGB-looking image.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39128" y="2176272"/>
            <a:ext cx="54864" cy="204825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CONCEPT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What Is Pansharpening?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Pansharpening fuses MS spectral information with PAN spatial detail.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LR-MS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Spectral content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HR-PAN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Spatial detail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2788920"/>
            <a:ext cx="1234440" cy="45720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83280" y="4297680"/>
            <a:ext cx="1234440" cy="-594360"/>
          </a:xfrm>
          <a:prstGeom prst="line">
            <a:avLst/>
          </a:prstGeom>
          <a:noFill/>
          <a:ln w="1905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846320" y="315468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CF5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Pansharpening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Model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06640" y="3611880"/>
            <a:ext cx="914400" cy="0"/>
          </a:xfrm>
          <a:prstGeom prst="line">
            <a:avLst/>
          </a:prstGeom>
          <a:noFill/>
          <a:ln w="19050">
            <a:solidFill>
              <a:srgbClr val="21A67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549640" y="3154680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HR-MS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Spectral + Spatial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CONCEPT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Why the Scale Factor Is ×4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PAN image is four times larger in both height and width.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1536 → 6144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Height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6144 ÷ 1536 = 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1804 → 7216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Width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7216 ÷ 1804 = 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201168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×4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Scale Factor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Same geographic area, denser pixels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84632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02A56"/>
                </a:solidFill>
              </a:rPr>
              <a:t>The model learns to map a low-resolution MS patch of 64 × 64 pixels to a 256 × 256 target.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0972800" cy="5486400"/>
          </a:xfrm>
          <a:prstGeom prst="rect">
            <a:avLst/>
          </a:prstGeom>
          <a:solidFill>
            <a:srgbClr val="163C78">
              <a:alpha val="96000"/>
            </a:srgbClr>
          </a:solidFill>
          <a:ln w="13970">
            <a:solidFill>
              <a:srgbClr val="66B9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60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9FF"/>
                </a:solidFill>
              </a:rPr>
              <a:t>SECTION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Geospatial Preprocessing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60120" y="3044952"/>
            <a:ext cx="1645920" cy="73152"/>
          </a:xfrm>
          <a:prstGeom prst="rect">
            <a:avLst/>
          </a:prstGeom>
          <a:solidFill>
            <a:srgbClr val="66B9FF"/>
          </a:solidFill>
          <a:ln w="12700">
            <a:solidFill>
              <a:srgbClr val="66B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2FF"/>
                </a:solidFill>
              </a:rPr>
              <a:t>Preparing satellite data before model training: metadata, alignment, and normalization.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44200" y="5376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6B9FF"/>
                </a:solidFill>
              </a:rPr>
              <a:t>16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GEOSPATIAL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GeoTIFF and Metadata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Remote-sensing images are not ordinary pictures.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576072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GeoTIFF stores image pixels and geographic metadata.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Important metadata includes CRS, bounds, transform, pixel size, band count, and data type.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If metadata is wrong, the model may train on mismatched spatial locations.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12280" y="196596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Tools Used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Rasterio and affine transformations were used for reading, checking, aligning, and writing geospatial imagery.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30568" y="2130552"/>
            <a:ext cx="54864" cy="223113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GEOSPATIAL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Coordinate Reference System — CRS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CRS defines how image pixels map to Earth coordinates.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D84C4C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Problem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If MS and PAN use different spatial references, the same pixel location may not represent the same ground location.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D84C4C"/>
          </a:solidFill>
          <a:ln w="12700">
            <a:solidFill>
              <a:srgbClr val="D84C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Solution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Verify both images use the same CRS before alignment and patch extraction.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GEOSPATIAL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Geographic Bounds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Bounds define the exact area covered by the image.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548640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Two images may have the same CRS but cover different extents.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The intersection of both image bounds must be computed.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Only the common geographic region should be used for training.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95160" y="21031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MS Bounds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31546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PAN Bounds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4206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ECF5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Common Intersection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32520" y="2880360"/>
            <a:ext cx="0" cy="27432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32520" y="3931920"/>
            <a:ext cx="0" cy="27432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ALIGNMENT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The Alignment Problem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Deep learning cannot fix incorrect supervision.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D84C4C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If Misaligned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PAN edges may correspond to the wrong MS pixels, causing blurred or false details.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1993392"/>
            <a:ext cx="54864" cy="1865376"/>
          </a:xfrm>
          <a:prstGeom prst="rect">
            <a:avLst/>
          </a:prstGeom>
          <a:solidFill>
            <a:srgbClr val="D84C4C"/>
          </a:solidFill>
          <a:ln w="12700">
            <a:solidFill>
              <a:srgbClr val="D84C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82880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What It Affects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Building corners, roof boundaries, roads, narrow features, and small objects.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98848" y="1993392"/>
            <a:ext cx="54864" cy="18653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82880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Correct Action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Verify spatial overlap, bounds, transform, and ×4 size relationship before training.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02168" y="1993392"/>
            <a:ext cx="54864" cy="186537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ALIGNMENT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Alignment Applied in the Project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final aligned files were spatially consistent.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5257800" cy="3337560"/>
          </a:xfrm>
          <a:prstGeom prst="roundRect">
            <a:avLst>
              <a:gd name="adj" fmla="val 2192"/>
            </a:avLst>
          </a:prstGeom>
          <a:solidFill>
            <a:srgbClr val="EEF7FF"/>
          </a:solidFill>
          <a:ln w="19050">
            <a:solidFill>
              <a:srgbClr val="21A67A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MS and PAN alignment overlay]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6 × 1536 × 1804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Aligned MS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≈ 1.2 m/pixel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8803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1 × 6144 × 7216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Aligned PAN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≈ 0.3 m/pixel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393192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0.0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Bounds Difference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Common area verified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PREPROCESSING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Radiometric Handling and Normalization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Neural networks train on normalized floating-point tensors.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Problem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Satellite pixel values are stored as uint16 and can have large numeric ranges. Raw values are not ideal for stable training.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Solution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Convert image data into normalized float tensors, train the model, then reconstruct the final output into a geospatial image format.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WORKFLOW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Preprocessing Workflow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data was prepared before any model training.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1508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56"/>
                </a:solidFill>
              </a:rPr>
              <a:t>Read GeoTIFFs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2176272" y="3154680"/>
            <a:ext cx="292608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514600" y="2743200"/>
            <a:ext cx="1508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56"/>
                </a:solidFill>
              </a:rPr>
              <a:t>Check Metadata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4050792" y="3154680"/>
            <a:ext cx="292608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389120" y="2743200"/>
            <a:ext cx="1508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56"/>
                </a:solidFill>
              </a:rPr>
              <a:t>Find Overlap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925312" y="3154680"/>
            <a:ext cx="292608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263640" y="2743200"/>
            <a:ext cx="1508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56"/>
                </a:solidFill>
              </a:rPr>
              <a:t>Align MS/PAN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799832" y="3154680"/>
            <a:ext cx="292608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138160" y="2743200"/>
            <a:ext cx="1508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56"/>
                </a:solidFill>
              </a:rPr>
              <a:t>Normalize Values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9674352" y="3154680"/>
            <a:ext cx="292608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012680" y="2743200"/>
            <a:ext cx="1508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56"/>
                </a:solidFill>
              </a:rPr>
              <a:t>Create Patches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1143000" y="4800600"/>
            <a:ext cx="9875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02A56"/>
                </a:solidFill>
              </a:rPr>
              <a:t>This stage prevents data leakage, wrong labels, and invalid spatial correspondence.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0972800" cy="5486400"/>
          </a:xfrm>
          <a:prstGeom prst="rect">
            <a:avLst/>
          </a:prstGeom>
          <a:solidFill>
            <a:srgbClr val="163C78">
              <a:alpha val="96000"/>
            </a:srgbClr>
          </a:solidFill>
          <a:ln w="13970">
            <a:solidFill>
              <a:srgbClr val="66B9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60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9FF"/>
                </a:solidFill>
              </a:rPr>
              <a:t>SECTION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Wald Dataset Generation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60120" y="3044952"/>
            <a:ext cx="1645920" cy="73152"/>
          </a:xfrm>
          <a:prstGeom prst="rect">
            <a:avLst/>
          </a:prstGeom>
          <a:solidFill>
            <a:srgbClr val="66B9FF"/>
          </a:solidFill>
          <a:ln w="12700">
            <a:solidFill>
              <a:srgbClr val="66B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2FF"/>
                </a:solidFill>
              </a:rPr>
              <a:t>Creating supervised training samples when full-resolution ground truth is unavailable.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44200" y="5376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6B9FF"/>
                </a:solidFill>
              </a:rPr>
              <a:t>24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WALD PROTOCOL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The Full-Resolution Ground-Truth Problem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 true six-band 0.3 m target image is not available.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D84C4C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At Full Resolution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We have LR-MS and HR-PAN, but no true HR-MS reference image for direct supervised training.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D84C4C"/>
          </a:solidFill>
          <a:ln w="12700">
            <a:solidFill>
              <a:srgbClr val="D84C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Consequence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PSNR, SSIM, SAM, ERGAS, and L1 cannot be computed directly at full resolution.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WALD PROTOCOL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Wald Protocol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 reduced-resolution supervised task is created artificially.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Original 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Target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Original PAN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331720"/>
            <a:ext cx="82296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46120" y="4206240"/>
            <a:ext cx="822960" cy="0"/>
          </a:xfrm>
          <a:prstGeom prst="line">
            <a:avLst/>
          </a:prstGeom>
          <a:noFill/>
          <a:ln w="1905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251960" y="1965960"/>
            <a:ext cx="22402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Degraded LR-MS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3840480"/>
            <a:ext cx="22402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Reduced PAN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2331720"/>
            <a:ext cx="731520" cy="73152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75120" y="4206240"/>
            <a:ext cx="731520" cy="-548640"/>
          </a:xfrm>
          <a:prstGeom prst="line">
            <a:avLst/>
          </a:prstGeom>
          <a:noFill/>
          <a:ln w="1905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635240" y="301752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ECF5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Train Model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46920" y="3474720"/>
            <a:ext cx="594360" cy="0"/>
          </a:xfrm>
          <a:prstGeom prst="line">
            <a:avLst/>
          </a:prstGeom>
          <a:noFill/>
          <a:ln w="19050">
            <a:solidFill>
              <a:srgbClr val="21A67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378440" y="3017520"/>
            <a:ext cx="12344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Compare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to MS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WALD PROTOCOL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Why the Wald Protocol Was Useful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It made quantitative training and evaluation possible.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Benefit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Creates model inputs and a valid multispectral target.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1993392"/>
            <a:ext cx="54864" cy="186537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82880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Metric Support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Allows PSNR, SSIM, SAM, ERGAS, and L1 to be computed.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98848" y="1993392"/>
            <a:ext cx="54864" cy="186537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82880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Limitation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Synthetic degradation may not perfectly match real sensor behavior.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02168" y="1993392"/>
            <a:ext cx="54864" cy="18653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DATASET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Patch Extraction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Large scenes were divided into smaller supervised samples.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530352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Patches fit GPU memory better than full scenes.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They increase the number of training examples.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Each sample contains LR-MS, PAN, and target MS.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All samples preserve the same ×4 relationship.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4709160" cy="3291840"/>
          </a:xfrm>
          <a:prstGeom prst="roundRect">
            <a:avLst>
              <a:gd name="adj" fmla="val 2222"/>
            </a:avLst>
          </a:prstGeom>
          <a:solidFill>
            <a:srgbClr val="EEF7FF"/>
          </a:solidFill>
          <a:ln w="19050">
            <a:solidFill>
              <a:srgbClr val="276EF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Wald LR-MS, PAN, and target sample]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DATASET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Generated Patch Dimensions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model learns 64 × 64 to 256 × 256 reconstruction.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6 × 64 × 64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LR-MS Input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≈ 4.8 m/pixel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21488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1 × 256 × 256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PAN Input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≈ 1.2 m/pixel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6 × 256 × 256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MS Target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≈ 1.2 m/pixel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02A56"/>
                </a:solidFill>
              </a:rPr>
              <a:t>Training task: use LR-MS + PAN to reconstruct the target MS at four-times higher spatial size.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DATASET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Train / Validation / Test Split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dataset was divided spatially to reduce leakage.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231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Training Patches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Used for model learning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1488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22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Validation Patches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Used for model selection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21488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22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Test Patches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Final evaluation only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Skipped patches: 0. The patch creation pipeline generated all required samples successfully.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DATASET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What Is Spatial Leakage?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Random patch splitting can make results look better than they really are.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D84C4C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Problem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Nearby satellite patches may contain the same buildings, roads, textures, and rooftops. A random split can leak almost identical areas into test data.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D84C4C"/>
          </a:solidFill>
          <a:ln w="12700">
            <a:solidFill>
              <a:srgbClr val="D84C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Solution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Use spatial splitting so training, validation, and test patches are separated by location.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0972800" cy="5486400"/>
          </a:xfrm>
          <a:prstGeom prst="rect">
            <a:avLst/>
          </a:prstGeom>
          <a:solidFill>
            <a:srgbClr val="163C78">
              <a:alpha val="96000"/>
            </a:srgbClr>
          </a:solidFill>
          <a:ln w="13970">
            <a:solidFill>
              <a:srgbClr val="66B9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60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9FF"/>
                </a:solidFill>
              </a:rPr>
              <a:t>SECTION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Baseline Methods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60120" y="3044952"/>
            <a:ext cx="1645920" cy="73152"/>
          </a:xfrm>
          <a:prstGeom prst="rect">
            <a:avLst/>
          </a:prstGeom>
          <a:solidFill>
            <a:srgbClr val="66B9FF"/>
          </a:solidFill>
          <a:ln w="12700">
            <a:solidFill>
              <a:srgbClr val="66B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2FF"/>
                </a:solidFill>
              </a:rPr>
              <a:t>Starting with simple reference methods before using advanced architectures.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44200" y="5376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6B9FF"/>
                </a:solidFill>
              </a:rPr>
              <a:t>32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BASELINES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33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Why Baselines Are Necessary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 complex model must prove that it improves over simpler methods.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566928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Bicubic gives a non-learning interpolation reference.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Fusion CNN gives a trainable deep-learning reference.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HAT must outperform these baselines to justify its complexity.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040880" y="1965960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Bicubic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2761488"/>
            <a:ext cx="0" cy="301752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040880" y="3063240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Fusion CNN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3858768"/>
            <a:ext cx="0" cy="301752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040880" y="4160520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HAT-PAN Fusion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BICUBIC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34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Bicubic Interpolation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Traditional resizing without learning.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What It Does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Estimates new pixels from nearby pixels using a fixed mathematical rule.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1993392"/>
            <a:ext cx="54864" cy="19568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8288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Why Used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It gives the minimum reference performance for ×4 upsampling.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98848" y="1993392"/>
            <a:ext cx="54864" cy="19568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8288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D84C4C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Limitation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It cannot learn buildings, roads, textures, or PAN-MS relationships.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02168" y="1993392"/>
            <a:ext cx="54864" cy="1956816"/>
          </a:xfrm>
          <a:prstGeom prst="rect">
            <a:avLst/>
          </a:prstGeom>
          <a:solidFill>
            <a:srgbClr val="D84C4C"/>
          </a:solidFill>
          <a:ln w="12700">
            <a:solidFill>
              <a:srgbClr val="D84C4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BICUBIC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35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Bicubic Baseline Results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Interpolation alone was not sufficient for this task.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4754880" cy="3246120"/>
          </a:xfrm>
          <a:prstGeom prst="roundRect">
            <a:avLst>
              <a:gd name="adj" fmla="val 2254"/>
            </a:avLst>
          </a:prstGeom>
          <a:solidFill>
            <a:srgbClr val="EEF7FF"/>
          </a:solidFill>
          <a:ln w="19050">
            <a:solidFill>
              <a:srgbClr val="F28C28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Bicubic output]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18.6868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PSNR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dB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23960" y="18288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0.5980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SSIM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higher is better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30632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2.6411°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SAM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lower is better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23960" y="30632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F28C28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4.7982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ERGAS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lower is better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0" y="42976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D84C4C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0.08254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L1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lower is better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 CNN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36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What Is a Fusion CNN?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 CNN learns local corrections using MS and PAN together.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566928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Convolutions detect local patterns such as edges and textures.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The model receives upsampled MS plus PAN.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It learns how PAN structures can improve each MS band.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It is simpler and faster than a transformer.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20840" y="205740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Bicubic 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384048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PAN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32520" y="2450592"/>
            <a:ext cx="640080" cy="521208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732520" y="4224528"/>
            <a:ext cx="640080" cy="-521208"/>
          </a:xfrm>
          <a:prstGeom prst="line">
            <a:avLst/>
          </a:prstGeom>
          <a:noFill/>
          <a:ln w="1905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555480" y="301752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ECF5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CNN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Fusion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 CNN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Fusion CNN Architecture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CNN predicts a six-band residual correction.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02A56"/>
                </a:solidFill>
              </a:rPr>
              <a:t>Upsample MS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2057400" y="3136392"/>
            <a:ext cx="32004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468880" y="274320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02A56"/>
                </a:solidFill>
              </a:rPr>
              <a:t>Concat + PAN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3931920" y="3136392"/>
            <a:ext cx="32004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343400" y="274320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02A56"/>
                </a:solidFill>
              </a:rPr>
              <a:t>Conv Features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5806440" y="3136392"/>
            <a:ext cx="32004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217920" y="274320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02A56"/>
                </a:solidFill>
              </a:rPr>
              <a:t>6 Residual Blocks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7680960" y="3136392"/>
            <a:ext cx="32004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092440" y="274320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02A56"/>
                </a:solidFill>
              </a:rPr>
              <a:t>6-Band Residual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9555480" y="3136392"/>
            <a:ext cx="32004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966960" y="274320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02A56"/>
                </a:solidFill>
              </a:rPr>
              <a:t>Add to Bicubic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1051560" y="498348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Settings: 7 input channels • 48 feature channels • 6 residual blocks • 6 output bands.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 CNN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38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Residual Learning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model predicts what is missing instead of reconstructing everything from zero.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Bicubic 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02336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Predicted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Residual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20440" y="2971800"/>
            <a:ext cx="1051560" cy="36576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20440" y="4434840"/>
            <a:ext cx="1051560" cy="-548640"/>
          </a:xfrm>
          <a:prstGeom prst="line">
            <a:avLst/>
          </a:prstGeom>
          <a:noFill/>
          <a:ln w="19050">
            <a:solidFill>
              <a:srgbClr val="21A67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800600" y="3337560"/>
            <a:ext cx="11430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56"/>
                </a:solidFill>
              </a:rPr>
              <a:t>+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77724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178040" y="3337560"/>
            <a:ext cx="2926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Final HR-MS 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5349240"/>
            <a:ext cx="98755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Benefit: the network focuses on high-frequency missing details such as edges and textures.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 CNN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39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Fusion CNN Results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CNN strongly outperformed Bicubic interpolation.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25.0762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PSNR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dB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8036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0.9186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SSIM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higher is better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1.9012°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SAM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lower is better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F28C28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2.2635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ERGAS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lower is better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8972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D84C4C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0.03531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L1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lower is better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02A56"/>
                </a:solidFill>
              </a:rPr>
              <a:t>PSNR improved by about +6.39 dB compared with Bicubic, proving that learned PAN-guided fusion is valuable.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 CNN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40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Fusion CNN: Strengths and Weaknesses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CNN is a strong baseline, but it has limited long-range modeling.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Strengths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Fast, stable, easy to train, and effective for local edges and textures. It achieved strong SAM and reconstruction quality.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Weaknesses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Mainly local receptive field. It may miss broader spatial relationships across repeated rooftops, long roads, or distant similar structures.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0972800" cy="5486400"/>
          </a:xfrm>
          <a:prstGeom prst="rect">
            <a:avLst/>
          </a:prstGeom>
          <a:solidFill>
            <a:srgbClr val="163C78">
              <a:alpha val="96000"/>
            </a:srgbClr>
          </a:solidFill>
          <a:ln w="13970">
            <a:solidFill>
              <a:srgbClr val="66B9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60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9FF"/>
                </a:solidFill>
              </a:rPr>
              <a:t>SECTION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HAT-PAN Fusion Architecture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60120" y="3044952"/>
            <a:ext cx="1645920" cy="73152"/>
          </a:xfrm>
          <a:prstGeom prst="rect">
            <a:avLst/>
          </a:prstGeom>
          <a:solidFill>
            <a:srgbClr val="66B9FF"/>
          </a:solidFill>
          <a:ln w="12700">
            <a:solidFill>
              <a:srgbClr val="66B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2FF"/>
                </a:solidFill>
              </a:rPr>
              <a:t>Using transformer-based feature extraction with PAN-guided residual refinement.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44200" y="5376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6B9FF"/>
                </a:solidFill>
              </a:rPr>
              <a:t>41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42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Why Use a Transformer?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Satellite scenes contain both local and long-range patterns.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57607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CNNs are strong at local features but have limited receptive field.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Transformers can connect distant regions through attention.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Urban satellite imagery contains repeated building patterns and long road structures.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HAT combines attention with convolutional operations.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66560" y="2011680"/>
            <a:ext cx="43434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Core Idea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Use attention to learn which regions and features are relevant to reconstructing high-resolution spatial detail.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84848" y="2176272"/>
            <a:ext cx="54864" cy="223113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43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What Is HAT?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Hybrid Attention Transformer is an image restoration architecture.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Attention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Learns relationships between pixels and features.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04088" y="1993392"/>
            <a:ext cx="54864" cy="200253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8288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Convolution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Preserves strong local feature extraction.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53128" y="1993392"/>
            <a:ext cx="54864" cy="200253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8288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Hybrid Design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Combines both to recover high-frequency detail.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02168" y="1993392"/>
            <a:ext cx="54864" cy="200253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44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Window-Based Self-Attention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Attention is computed inside local windows to reduce computation.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Problem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Full-image attention is expensive for large satellite patches and full-resolution images.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Solution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Divide the feature map into windows and compute attention within each window.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Channel Attention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model learns which feature channels are more important.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557784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Feature channels contain different learned patterns.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Some channels may represent edges, textures, shadows, or spectral structures.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Channel attention increases the influence of useful channels and reduces weaker ones.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58000" y="205740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Feature Channels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58200" y="2834640"/>
            <a:ext cx="0" cy="36576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858000" y="320040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Channel Weights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58200" y="3977640"/>
            <a:ext cx="0" cy="36576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858000" y="434340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Reweighted Features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46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Overlapping Cross-Attention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Overlapping attention helps information move across neighboring windows.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Problem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Isolated windows may break structures crossing window borders, such as roads or building rows.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Solution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Use overlapping interactions so neighboring windows can share context and preserve continuity.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47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Hybrid Attention Groups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HAT stacks multiple groups of transformer blocks.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2880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Hybrid Attention Groups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deep feature hierarchy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148840"/>
            <a:ext cx="2880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Blocks per Group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repeated feature refinement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2148840"/>
            <a:ext cx="2880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180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Embedding Dim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feature representation size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89204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02A56"/>
                </a:solidFill>
              </a:rPr>
              <a:t>This gives the model enough capacity to learn complex spatial–spectral relationships.</a:t>
            </a:r>
            <a:endParaRPr lang="en-US" sz="2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48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PixelShuffle Upsampling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PixelShuffle rearranges learned feature channels into higher-resolution pixels.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548640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The model first learns many feature channels at lower spatial size.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PixelShuffle converts channel information into spatial resolution.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This provides learned upsampling instead of fixed interpolation.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03720" y="214884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Low-Res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Features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15400" y="2542032"/>
            <a:ext cx="45720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55480" y="21488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×4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Spatial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3749040"/>
            <a:ext cx="4160520" cy="777240"/>
          </a:xfrm>
          <a:prstGeom prst="roundRect">
            <a:avLst>
              <a:gd name="adj" fmla="val 8235"/>
            </a:avLst>
          </a:prstGeom>
          <a:solidFill>
            <a:srgbClr val="ECF5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Feature Channels → Spatial Pixels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49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Modified HAT-PAN Fusion Architecture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original HAT was adapted for multispectral pansharpening.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LR-MS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6 channels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PAN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downsampled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88920" y="2331720"/>
            <a:ext cx="868680" cy="54864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88920" y="4114800"/>
            <a:ext cx="868680" cy="-594360"/>
          </a:xfrm>
          <a:prstGeom prst="line">
            <a:avLst/>
          </a:prstGeom>
          <a:noFill/>
          <a:ln w="1905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886200" y="288036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7-Channel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Input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06440" y="3319272"/>
            <a:ext cx="64008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629400" y="288036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ECF5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HAT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Backbone ×4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23960" y="3319272"/>
            <a:ext cx="64008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646920" y="2880360"/>
            <a:ext cx="1828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6-Band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Residual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50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Why PAN Is Downsampled for HAT Input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LR-MS and PAN must have the same spatial size before concatenation.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Problem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Original PAN is 256 × 256 inside each training patch, while LR-MS is 64 × 64. They cannot be concatenated directly.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Solution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Downsample PAN to LR-MS size for the initial HAT input, then use the original HR-PAN again during refinement.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HAT Residual Reconstruction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HAT predicts missing high-frequency information.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Bicubic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HR-MS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HAT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Residual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20440" y="2761488"/>
            <a:ext cx="1051560" cy="484632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20440" y="4315968"/>
            <a:ext cx="1051560" cy="-585216"/>
          </a:xfrm>
          <a:prstGeom prst="line">
            <a:avLst/>
          </a:prstGeom>
          <a:noFill/>
          <a:ln w="19050">
            <a:solidFill>
              <a:srgbClr val="21A67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800600" y="3246120"/>
            <a:ext cx="11430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56"/>
                </a:solidFill>
              </a:rPr>
              <a:t>+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172200" y="3639312"/>
            <a:ext cx="77724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178040" y="324612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Coarse HR-MS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212080"/>
            <a:ext cx="10332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This makes training easier because the model focuses on the difference between Bicubic and the target image.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52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PAN-Guided Residual Refinement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 CNN refiner corrects the coarse HAT output using original HR-PAN.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Coarse HR-MS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from HAT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03320" y="20574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Bicubic MS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low-frequency reference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0574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Original PAN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HR spatial guidance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55480" y="20574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F28C28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13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Input Channels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to refiner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489204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02A56"/>
                </a:solidFill>
              </a:rPr>
              <a:t>Final HR-MS = Coarse HR-MS + Refinement Residual</a:t>
            </a:r>
            <a:endParaRPr lang="en-US" sz="2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53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Main HAT Configuration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model was configured for six-band PAN-guided ×4 reconstruction.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1828800"/>
            <a:ext cx="5120640" cy="416052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865376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Setting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0760" y="1828800"/>
            <a:ext cx="5120640" cy="416052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1865376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Value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2244852"/>
            <a:ext cx="5120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2281428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Scale factor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0760" y="2244852"/>
            <a:ext cx="5120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2281428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×4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0120" y="2660904"/>
            <a:ext cx="5120640" cy="416052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2697480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Input channels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0760" y="2660904"/>
            <a:ext cx="5120640" cy="416052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7336" y="2697480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0120" y="3076956"/>
            <a:ext cx="5120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3113532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Output bands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80760" y="3076956"/>
            <a:ext cx="5120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3113532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60120" y="3493008"/>
            <a:ext cx="5120640" cy="416052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6696" y="3529584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Embedding dimension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80760" y="3493008"/>
            <a:ext cx="5120640" cy="416052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3529584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180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0120" y="3909060"/>
            <a:ext cx="5120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696" y="3945636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Hybrid attention groups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80760" y="3909060"/>
            <a:ext cx="5120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17336" y="3945636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6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0120" y="4325112"/>
            <a:ext cx="5120640" cy="416052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6696" y="4361688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Blocks per group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80760" y="4325112"/>
            <a:ext cx="5120640" cy="416052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17336" y="4361688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60120" y="4741164"/>
            <a:ext cx="5120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6696" y="4777740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Attention heads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080760" y="4741164"/>
            <a:ext cx="5120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17336" y="4777740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6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60120" y="5157216"/>
            <a:ext cx="5120640" cy="416052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6696" y="5193792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Window size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080760" y="5157216"/>
            <a:ext cx="5120640" cy="416052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17336" y="5193792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16 × 16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60120" y="5573268"/>
            <a:ext cx="5120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6696" y="5609844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Upsampling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080760" y="5573268"/>
            <a:ext cx="5120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17336" y="5609844"/>
            <a:ext cx="5047488" cy="342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PixelShuffle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HAT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54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HAT-PAN Fusion Result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HAT model became the strongest individual reconstruction model.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25.3574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PSNR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best individual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80360" y="1965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0.9210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SSIM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high structure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1.9107°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SAM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spectral angle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1965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F28C28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2.1864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ERGAS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best individual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89720" y="1965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D84C4C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0.03421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L1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best individual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48840" y="3794760"/>
            <a:ext cx="7909560" cy="1371600"/>
          </a:xfrm>
          <a:prstGeom prst="roundRect">
            <a:avLst>
              <a:gd name="adj" fmla="val 5333"/>
            </a:avLst>
          </a:prstGeom>
          <a:solidFill>
            <a:srgbClr val="EEF7FF"/>
          </a:solidFill>
          <a:ln w="19050">
            <a:solidFill>
              <a:srgbClr val="276EF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HAT output example]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0972800" cy="5486400"/>
          </a:xfrm>
          <a:prstGeom prst="rect">
            <a:avLst/>
          </a:prstGeom>
          <a:solidFill>
            <a:srgbClr val="163C78">
              <a:alpha val="96000"/>
            </a:srgbClr>
          </a:solidFill>
          <a:ln w="13970">
            <a:solidFill>
              <a:srgbClr val="66B9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60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9FF"/>
                </a:solidFill>
              </a:rPr>
              <a:t>SECTION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Transfer Learning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60120" y="3044952"/>
            <a:ext cx="1645920" cy="73152"/>
          </a:xfrm>
          <a:prstGeom prst="rect">
            <a:avLst/>
          </a:prstGeom>
          <a:solidFill>
            <a:srgbClr val="66B9FF"/>
          </a:solidFill>
          <a:ln w="12700">
            <a:solidFill>
              <a:srgbClr val="66B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2FF"/>
                </a:solidFill>
              </a:rPr>
              <a:t>Using WorldView-3 pretraining to improve a small local six-band dataset.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44200" y="5376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6B9FF"/>
                </a:solidFill>
              </a:rPr>
              <a:t>55</a:t>
            </a:r>
            <a:endParaRPr lang="en-US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TRANSFER LEARNING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56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What Is Transfer Learning?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 model reuses knowledge learned from a larger related dataset.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Meaning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Instead of starting from random weights, the model starts from features learned on a previous remote-sensing dataset.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Why It Helps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The local dataset is small, so pretrained features reduce overfitting risk and improve convergence.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TRANSFER LEARNING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57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Why Transfer Learning Was Needed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local dataset has only 231 training patches.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Challenge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HAT has high capacity and can overfit small datasets.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1993392"/>
            <a:ext cx="54864" cy="19568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8288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Pretraining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Learn general remote-sensing features from WorldView-3 first.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98848" y="1993392"/>
            <a:ext cx="54864" cy="19568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8288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Fine-Tuning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Adapt those features to the local six-band dataset.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02168" y="1993392"/>
            <a:ext cx="54864" cy="19568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TRANSFER LEARNING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58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WorldView-3 Source Dataset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source task used more spectral bands than the local dataset.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8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WV3 MS Bands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source domain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20574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PAN Band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spatial detail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95160" y="20574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9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Input Channels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8 MS + PAN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12680" y="2057400"/>
            <a:ext cx="1234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F28C28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8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Output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MS bands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The source model learned spatial–spectral patterns before being adapted to the local six-band dataset.</a:t>
            </a:r>
            <a:endParaRPr 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TRANSFER LEARNING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59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WorldView-3 Pretraining Result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These numbers belong to the WV3 validation setup only.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74520" y="22402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32.568 dB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WV3 PSNR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source validation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95160" y="22402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4.944°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WV3 SAM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source validation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4892040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28C28"/>
                </a:solidFill>
              </a:rPr>
              <a:t>Important: do not directly compare WV3 metrics with local dataset metrics because sensors, bands, data distributions, and protocols are different.</a:t>
            </a:r>
            <a:endParaRPr lang="en-US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TRANSFER LEARNING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Band Adaptation: 8 Bands to 6 Bands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source and target models had different channel structures.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Source WV3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9 input channels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8 output bands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69080" y="2743200"/>
            <a:ext cx="77724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74920" y="2240280"/>
            <a:ext cx="2011680" cy="1005840"/>
          </a:xfrm>
          <a:prstGeom prst="roundRect">
            <a:avLst>
              <a:gd name="adj" fmla="val 6364"/>
            </a:avLst>
          </a:prstGeom>
          <a:solidFill>
            <a:srgbClr val="ECF5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Adapt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Layers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69480" y="2743200"/>
            <a:ext cx="77724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275320" y="224028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Target Local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7 input channels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6 output bands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800600"/>
            <a:ext cx="9875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02A56"/>
                </a:solidFill>
              </a:rPr>
              <a:t>Refinement input was also adapted from 17 channels to 13 channels.</a:t>
            </a:r>
            <a:endParaRPr lang="en-US" sz="2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TRANSFER LEARNING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61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Partial Weight Transfer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Most internal HAT tensors could be reused directly.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876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Compatible Tensors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transferred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43400" y="187452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Direct Transfer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Attention blocks, transformer layers, and internal feature extractors kept their learned weights.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61688" y="2039112"/>
            <a:ext cx="54864" cy="159105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87452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Adapted Layers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Input, output, and refinement layers were changed because channel counts were different.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73568" y="2039112"/>
            <a:ext cx="54864" cy="159105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TRANSFER LEARNING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62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Two-Stage Fine-Tuning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Adapted layers first, then the full network.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Stage A — Adaptation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Train mainly the modified input, output, and refinement components so the model learns the six-band local structure.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41248" y="2176272"/>
            <a:ext cx="54864" cy="159105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01168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Stage B — Full Fine-Tuning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Unfreeze and optimize the full model to adapt pretrained features to the local satellite scene.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64808" y="2176272"/>
            <a:ext cx="54864" cy="159105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Benefit: more stable adaptation than training everything from scratch immediately.</a:t>
            </a:r>
            <a:endParaRPr 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TRANSFER LEARNING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63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Transfer Learning: Benefits and Risks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Pretraining helps, but it must be evaluated carefully.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Benefits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Faster convergence, better initialization, stronger spatial feature extraction, and reduced dependence on the small local dataset.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Risks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Source and target data are not identical. Band differences and sensor differences may create a domain gap.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TRANSFER LEARNING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64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WV3-Transfer HAT Local Test Result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This became the main model selected for reconstruction.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25.3574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PSNR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best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8036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0.9210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SSIM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strong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1.9107°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SAM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good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F28C28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2.1864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ERGAS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best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8972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D84C4C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0.03421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L1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best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02A56"/>
                </a:solidFill>
              </a:rPr>
              <a:t>Best overall reconstruction among individual models: highest PSNR and lowest ERGAS/L1.</a:t>
            </a:r>
            <a:endParaRPr lang="en-US" sz="2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COMPARISON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65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HAT vs Fusion CNN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Each model has a different strength.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1767840" cy="4724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191109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Model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45080" y="1874520"/>
            <a:ext cx="1767840" cy="4724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1656" y="191109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PSNR ↑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12920" y="1874520"/>
            <a:ext cx="1767840" cy="4724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9496" y="191109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SSIM ↑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0760" y="1874520"/>
            <a:ext cx="1767840" cy="4724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91109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SAM 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48600" y="1874520"/>
            <a:ext cx="1767840" cy="4724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5176" y="191109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ERGAS 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16440" y="1874520"/>
            <a:ext cx="1767840" cy="4724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3016" y="191109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L1 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7240" y="2346960"/>
            <a:ext cx="1767840" cy="472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238353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Fusion CNN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545080" y="2346960"/>
            <a:ext cx="1767840" cy="472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1656" y="238353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25.0762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12920" y="2346960"/>
            <a:ext cx="1767840" cy="472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9496" y="238353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0.9186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80760" y="2346960"/>
            <a:ext cx="1767840" cy="472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238353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1.9012°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48600" y="2346960"/>
            <a:ext cx="1767840" cy="472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85176" y="238353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2.2635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616440" y="2346960"/>
            <a:ext cx="1767840" cy="472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53016" y="238353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0.03531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77240" y="2819400"/>
            <a:ext cx="1767840" cy="4724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" y="285597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WV3-Transfer HAT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545080" y="2819400"/>
            <a:ext cx="1767840" cy="4724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81656" y="285597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25.3574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12920" y="2819400"/>
            <a:ext cx="1767840" cy="4724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9496" y="285597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0.9210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080760" y="2819400"/>
            <a:ext cx="1767840" cy="4724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17336" y="285597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1.9107°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848600" y="2819400"/>
            <a:ext cx="1767840" cy="4724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85176" y="285597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2.1864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616440" y="2819400"/>
            <a:ext cx="1767840" cy="4724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53016" y="2855976"/>
            <a:ext cx="169468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0.03421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4400" y="379476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Interpretation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HAT achieved better PSNR, ERGAS, and L1, meaning stronger overall reconstruction.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32688" y="3959352"/>
            <a:ext cx="54864" cy="90525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379476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Trade-Off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CNN achieved slightly better SAM, meaning slightly better spectral-angle preservation in this comparison.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19088" y="3959352"/>
            <a:ext cx="54864" cy="90525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0972800" cy="5486400"/>
          </a:xfrm>
          <a:prstGeom prst="rect">
            <a:avLst/>
          </a:prstGeom>
          <a:solidFill>
            <a:srgbClr val="163C78">
              <a:alpha val="96000"/>
            </a:srgbClr>
          </a:solidFill>
          <a:ln w="13970">
            <a:solidFill>
              <a:srgbClr val="66B9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60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9FF"/>
                </a:solidFill>
              </a:rPr>
              <a:t>SECTION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Adaptive Fusion and Ablation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60120" y="3044952"/>
            <a:ext cx="1645920" cy="73152"/>
          </a:xfrm>
          <a:prstGeom prst="rect">
            <a:avLst/>
          </a:prstGeom>
          <a:solidFill>
            <a:srgbClr val="66B9FF"/>
          </a:solidFill>
          <a:ln w="12700">
            <a:solidFill>
              <a:srgbClr val="66B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2FF"/>
                </a:solidFill>
              </a:rPr>
              <a:t>Combining model experts and rejecting unnecessary complexity.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44200" y="5376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6B9FF"/>
                </a:solidFill>
              </a:rPr>
              <a:t>66</a:t>
            </a:r>
            <a:endParaRPr lang="en-US" sz="2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67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Why Combine HAT and CNN?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Different architectures may be reliable in different places.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HAT Strength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Better global and long-range spatial modeling.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084832"/>
            <a:ext cx="54864" cy="186537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92024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CNN Strength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Strong local texture and spectral consistency behavior.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98848" y="2084832"/>
            <a:ext cx="54864" cy="186537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92024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Fusion Goal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Use each model where it is most reliable.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02168" y="2084832"/>
            <a:ext cx="54864" cy="186537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68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Simple Average Fusion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first fusion test used equal weights.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HAT Output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CNN Output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2907792"/>
            <a:ext cx="1234440" cy="338328"/>
          </a:xfrm>
          <a:prstGeom prst="line">
            <a:avLst/>
          </a:prstGeom>
          <a:noFill/>
          <a:ln w="19050">
            <a:solidFill>
              <a:srgbClr val="21A6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37560" y="4325112"/>
            <a:ext cx="1234440" cy="-530352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846320" y="324612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ECF5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Average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0.5 + 0.5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880" y="3639312"/>
            <a:ext cx="91440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183880" y="324612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Fused HR-MS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394960"/>
            <a:ext cx="10332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A56"/>
                </a:solidFill>
              </a:rPr>
              <a:t>Result: PSNR 25.2909 • SSIM 0.9210 • SAM 1.8843° • ERGAS 2.2066 • L1 0.03436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69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Adaptive Gating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gate learns model weights for each pixel and band.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102412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02A56"/>
                </a:solidFill>
              </a:rPr>
              <a:t>Instead of fixed 50/50 fusion, the gate predicts how much to trust HAT and CNN locally.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HAT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25196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CNN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17520" y="3547872"/>
            <a:ext cx="960120" cy="292608"/>
          </a:xfrm>
          <a:prstGeom prst="line">
            <a:avLst/>
          </a:prstGeom>
          <a:noFill/>
          <a:ln w="19050">
            <a:solidFill>
              <a:srgbClr val="21A6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17520" y="4645152"/>
            <a:ext cx="960120" cy="-301752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206240" y="3840480"/>
            <a:ext cx="2194560" cy="822960"/>
          </a:xfrm>
          <a:prstGeom prst="roundRect">
            <a:avLst>
              <a:gd name="adj" fmla="val 7778"/>
            </a:avLst>
          </a:prstGeom>
          <a:solidFill>
            <a:srgbClr val="ECF5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Adaptive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Gate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29400" y="4251960"/>
            <a:ext cx="86868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726680" y="3840480"/>
            <a:ext cx="2926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Weighted Final Output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70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Spatial Out-of-Fold Training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gate must not learn from leaked expert predictions.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D84C4C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Problem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If the expert models predicted training patches they had already seen, the gate could overfit to unrealistically good predictions.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D84C4C"/>
          </a:solidFill>
          <a:ln w="12700">
            <a:solidFill>
              <a:srgbClr val="D84C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Solution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Use spatial out-of-fold predictions: every training patch is predicted by experts trained without that patch.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71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Three-Fold Spatial Cross-Fitting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Each patch became a holdout once.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Spatial Folds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cross-fitting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201168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231 / 231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OOF Coverage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all training patches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41080" y="201168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F28C28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Leakage Goal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avoid in-sample fusion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800600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Spatial overlap buffers were used so the expert models did not train on neighborhoods too close to their holdout patches.</a:t>
            </a:r>
            <a:endParaRPr lang="en-US" sz="2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72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Adaptive Gate Input Features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gate used predictions, reference inputs, and disagreement information.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HAT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channels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80360" y="1828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CNN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channels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Bicubic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channels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1828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F28C28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PAN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channel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89720" y="1828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D84C4C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|HAT−CNN|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channels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02A56"/>
                </a:solidFill>
              </a:rPr>
              <a:t>Total gate input = 25 channels.</a:t>
            </a:r>
            <a:endParaRPr lang="en-US" sz="2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73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Why Use |HAT − CNN|?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Disagreement highlights uncertain regions.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Meaning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The absolute difference shows where HAT and CNN predictions do not agree.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Benefit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High disagreement tells the gate that a local decision may be needed instead of simple averaging.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74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Gate Output: Expert Weight Maps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Weights are predicted separately for HAT and CNN across six bands.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Experts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HAT and CNN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Bands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separate spectral weights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21040" y="210312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12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Weight Maps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2 × 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20624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EEF7FF"/>
          </a:solidFill>
          <a:ln w="19050">
            <a:solidFill>
              <a:srgbClr val="21A67A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HAT weight map]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20624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EEF7FF"/>
          </a:solidFill>
          <a:ln w="19050">
            <a:solidFill>
              <a:srgbClr val="276EF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CNN weight map]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FUSION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75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OOF Adaptive Gate Results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adaptive gate gave the strongest spectral–structural balance.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25.3204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PSNR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close to HAT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8036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0.92119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SSIM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best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1.88268°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SAM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best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F28C28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2.1986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ERGAS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strong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89720" y="19659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D84C4C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0.03425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L1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</a:rPr>
              <a:t>strong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4892040"/>
            <a:ext cx="10058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02A56"/>
                </a:solidFill>
              </a:rPr>
              <a:t>Average contribution: HAT ≈ 51% and CNN ≈ 49%.</a:t>
            </a:r>
            <a:endParaRPr lang="en-US" sz="2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ABLATION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76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What Is an Ablation Study?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Ablation checks whether added complexity is actually useful.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996696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Add or remove components one at a time.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Compare the same metrics on the same test set.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Keep only techniques that provide meaningful benefits.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Reject components that improve one metric but damage overall quality.</a:t>
            </a:r>
            <a:endParaRPr lang="en-US" sz="2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ABLATION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77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Correlation-Aware Gate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More features did not clearly improve the gate.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Idea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Add local correlation between PAN and HAT/CNN/Bicubic predictions.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" y="1993392"/>
            <a:ext cx="54864" cy="19568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Result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PSNR 25.3048 • SSIM 0.92106 • SAM 1.88307° • ERGAS 2.2028.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07408" y="1993392"/>
            <a:ext cx="54864" cy="195681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Decision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Not selected because it did not beat the simpler OOF gate.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19288" y="1993392"/>
            <a:ext cx="54864" cy="19568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ABLATION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78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S3 Residual Refiner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refiner improved SAM but weakened other key metrics.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Idea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Add a bounded residual correction after adaptive fusion.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" y="1993392"/>
            <a:ext cx="54864" cy="19568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Result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PSNR 25.1726 • SAM 1.8759° • ERGAS 2.2431 • L1 0.03456.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07408" y="1993392"/>
            <a:ext cx="54864" cy="195681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D84C4C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Decision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Rejected because better SAM did not justify worse PSNR, ERGAS, and L1.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19288" y="1993392"/>
            <a:ext cx="54864" cy="1956816"/>
          </a:xfrm>
          <a:prstGeom prst="rect">
            <a:avLst/>
          </a:prstGeom>
          <a:solidFill>
            <a:srgbClr val="D84C4C"/>
          </a:solidFill>
          <a:ln w="12700">
            <a:solidFill>
              <a:srgbClr val="D84C4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ABLATION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79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Loss Components Used in S3 Experiment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Different losses targeted different quality aspects.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874520"/>
            <a:ext cx="5166360" cy="55626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11096"/>
            <a:ext cx="5093208" cy="4831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0760" y="1874520"/>
            <a:ext cx="5166360" cy="55626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1911096"/>
            <a:ext cx="5093208" cy="4831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Purpose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2430780"/>
            <a:ext cx="5166360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2467356"/>
            <a:ext cx="5093208" cy="4831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Charbonnier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0760" y="2430780"/>
            <a:ext cx="5166360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2467356"/>
            <a:ext cx="5093208" cy="4831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Robust reconstruction error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2987040"/>
            <a:ext cx="5166360" cy="55626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3023616"/>
            <a:ext cx="5093208" cy="4831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SAM Loss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0760" y="2987040"/>
            <a:ext cx="5166360" cy="55626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7336" y="3023616"/>
            <a:ext cx="5093208" cy="4831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Spectral-angle preservation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3543300"/>
            <a:ext cx="5166360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3579876"/>
            <a:ext cx="5093208" cy="4831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LR Consistency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80760" y="3543300"/>
            <a:ext cx="5166360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3579876"/>
            <a:ext cx="5093208" cy="4831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Output remains consistent when degraded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4400" y="4099560"/>
            <a:ext cx="5166360" cy="55626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4136136"/>
            <a:ext cx="5093208" cy="4831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Residual Regularization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80760" y="4099560"/>
            <a:ext cx="5166360" cy="55626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4136136"/>
            <a:ext cx="5093208" cy="4831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Avoid overly large corrections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4400" y="4655820"/>
            <a:ext cx="5166360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4692396"/>
            <a:ext cx="5093208" cy="4831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Gate Smoothness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80760" y="4655820"/>
            <a:ext cx="5166360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17336" y="4692396"/>
            <a:ext cx="5093208" cy="4831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Stabilize weight maps</a:t>
            </a:r>
            <a:endParaRPr lang="en-US" sz="1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ABLATION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80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Final Model Decisions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Final selection prioritized balanced performance, not complexity.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Retained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WV3-Transfer HAT as the primary reconstruction model.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084832"/>
            <a:ext cx="54864" cy="168249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92024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Retained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OOF Adaptive Gate as the best spectral–structural balance model.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98848" y="2084832"/>
            <a:ext cx="54864" cy="168249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92024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84C4C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Rejected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Correlation Gate and S3 Refiner because complexity did not improve overall quality.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02168" y="2084832"/>
            <a:ext cx="54864" cy="1682496"/>
          </a:xfrm>
          <a:prstGeom prst="rect">
            <a:avLst/>
          </a:prstGeom>
          <a:solidFill>
            <a:srgbClr val="D84C4C"/>
          </a:solidFill>
          <a:ln w="12700">
            <a:solidFill>
              <a:srgbClr val="D84C4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0972800" cy="5486400"/>
          </a:xfrm>
          <a:prstGeom prst="rect">
            <a:avLst/>
          </a:prstGeom>
          <a:solidFill>
            <a:srgbClr val="163C78">
              <a:alpha val="96000"/>
            </a:srgbClr>
          </a:solidFill>
          <a:ln w="13970">
            <a:solidFill>
              <a:srgbClr val="66B9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60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9FF"/>
                </a:solidFill>
              </a:rPr>
              <a:t>SECTION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Evaluation Metrics and Results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60120" y="3044952"/>
            <a:ext cx="1645920" cy="73152"/>
          </a:xfrm>
          <a:prstGeom prst="rect">
            <a:avLst/>
          </a:prstGeom>
          <a:solidFill>
            <a:srgbClr val="66B9FF"/>
          </a:solidFill>
          <a:ln w="12700">
            <a:solidFill>
              <a:srgbClr val="66B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2FF"/>
                </a:solidFill>
              </a:rPr>
              <a:t>Understanding what each metric means and how the models performed.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44200" y="5376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6B9FF"/>
                </a:solidFill>
              </a:rPr>
              <a:t>81</a:t>
            </a:r>
            <a:endParaRPr lang="en-US" sz="2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METRICS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82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Evaluation Metrics Overview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Spatial sharpness alone is not enough for remote-sensing imagery.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PSNR ↑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Pixel Accuracy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higher is better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88920" y="20574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SSIM ↑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Structure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higher is better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74920" y="20574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SAM 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Spectral Angle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lower is better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20574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F28C28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ERGAS 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Radiometry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lower is better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6920" y="20574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L1 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Absolute Error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lower is better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937760"/>
            <a:ext cx="10332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A reliable pansharpening model must balance spatial reconstruction with spectral consistency.</a:t>
            </a:r>
            <a:endParaRPr lang="en-US" sz="2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METRICS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83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PSNR — Peak Signal-to-Noise Ratio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PSNR measures pixel-level reconstruction accuracy.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Meaning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Higher PSNR means the predicted image is closer to the reference target at the pixel level.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Caution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A high PSNR does not automatically mean perfect spectral or visual quality.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METRICS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84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SSIM — Structural Similarity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SSIM evaluates structure, contrast, and local pattern similarity.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Meaning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SSIM is closer to 1 when the predicted image preserves structures such as roads, buildings, and textures.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Why Useful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It complements PSNR by focusing on image structure rather than only pixel error.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METRICS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85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SAM — Spectral Angle Mapper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SAM measures spectral-shape preservation.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Meaning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SAM calculates the angle between predicted and reference spectral vectors. Lower angle is better.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Why Important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Remote-sensing analysis depends on spectral signatures. A sharp image with distorted spectra can be scientifically weak.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METRICS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86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ERGAS — Global Relative Error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ERGAS evaluates radiometric consistency across bands.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Meaning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Lower ERGAS means lower global relative reconstruction error across spectral bands.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Why Useful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It helps judge whether the full multispectral image remains radiometrically reliable.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METRICS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87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L1 Error — Average Absolute Difference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L1 is a direct pixel-wise error measurement.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Meaning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It averages the absolute difference between prediction and target pixels. Lower is better.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Why Useful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It is simple, stable, and easy to interpret as reconstruction error.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88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Final Local Results — Core Models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All models were evaluated on the same spatial test set.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1920240"/>
            <a:ext cx="1828800" cy="56007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195681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Method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2423160" y="1920240"/>
            <a:ext cx="1828800" cy="56007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9736" y="195681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PSNR ↑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251960" y="1920240"/>
            <a:ext cx="1828800" cy="56007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195681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SSIM ↑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080760" y="1920240"/>
            <a:ext cx="1828800" cy="56007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95681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SAM ↓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09560" y="1920240"/>
            <a:ext cx="1828800" cy="56007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6136" y="195681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ERGAS ↓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9738360" y="1920240"/>
            <a:ext cx="1828800" cy="56007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74936" y="195681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L1 ↓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94360" y="248031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251688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Bicubic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2423160" y="248031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9736" y="251688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18.6868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4251960" y="248031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88536" y="251688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0.5980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080760" y="248031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251688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2.6411°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909560" y="248031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6136" y="251688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4.7982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9738360" y="248031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74936" y="251688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0.08254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594360" y="3040380"/>
            <a:ext cx="1828800" cy="56007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" y="307695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Fusion CNN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2423160" y="3040380"/>
            <a:ext cx="1828800" cy="56007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59736" y="307695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25.0762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4251960" y="3040380"/>
            <a:ext cx="1828800" cy="56007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88536" y="307695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0.9186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6080760" y="3040380"/>
            <a:ext cx="1828800" cy="56007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17336" y="307695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1.9012°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7909560" y="3040380"/>
            <a:ext cx="1828800" cy="56007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46136" y="307695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2.2635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9738360" y="3040380"/>
            <a:ext cx="1828800" cy="56007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74936" y="307695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0.03531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594360" y="360045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" y="363702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WV3-Transfer HAT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2423160" y="360045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59736" y="363702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25.3574</a:t>
            </a:r>
            <a:endParaRPr lang="en-US" sz="1550" dirty="0"/>
          </a:p>
        </p:txBody>
      </p:sp>
      <p:sp>
        <p:nvSpPr>
          <p:cNvPr id="51" name="Shape 49"/>
          <p:cNvSpPr/>
          <p:nvPr/>
        </p:nvSpPr>
        <p:spPr>
          <a:xfrm>
            <a:off x="4251960" y="360045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88536" y="363702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0.9210</a:t>
            </a:r>
            <a:endParaRPr lang="en-US" sz="1550" dirty="0"/>
          </a:p>
        </p:txBody>
      </p:sp>
      <p:sp>
        <p:nvSpPr>
          <p:cNvPr id="53" name="Shape 51"/>
          <p:cNvSpPr/>
          <p:nvPr/>
        </p:nvSpPr>
        <p:spPr>
          <a:xfrm>
            <a:off x="6080760" y="360045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17336" y="363702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1.9107°</a:t>
            </a:r>
            <a:endParaRPr lang="en-US" sz="1550" dirty="0"/>
          </a:p>
        </p:txBody>
      </p:sp>
      <p:sp>
        <p:nvSpPr>
          <p:cNvPr id="55" name="Shape 53"/>
          <p:cNvSpPr/>
          <p:nvPr/>
        </p:nvSpPr>
        <p:spPr>
          <a:xfrm>
            <a:off x="7909560" y="360045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46136" y="363702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2.1864</a:t>
            </a:r>
            <a:endParaRPr lang="en-US" sz="1550" dirty="0"/>
          </a:p>
        </p:txBody>
      </p:sp>
      <p:sp>
        <p:nvSpPr>
          <p:cNvPr id="57" name="Shape 55"/>
          <p:cNvSpPr/>
          <p:nvPr/>
        </p:nvSpPr>
        <p:spPr>
          <a:xfrm>
            <a:off x="9738360" y="360045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74936" y="363702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0.03421</a:t>
            </a:r>
            <a:endParaRPr lang="en-US" sz="1550" dirty="0"/>
          </a:p>
        </p:txBody>
      </p:sp>
      <p:sp>
        <p:nvSpPr>
          <p:cNvPr id="59" name="Text 57"/>
          <p:cNvSpPr/>
          <p:nvPr/>
        </p:nvSpPr>
        <p:spPr>
          <a:xfrm>
            <a:off x="100584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Primary decision: WV3-Transfer HAT produced the strongest overall individual-model reconstruction.</a:t>
            </a:r>
            <a:endParaRPr lang="en-US" sz="2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89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Final Local Results — Fusion and Ablation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Fusion improved spectral balance but did not surpass HAT in all metrics.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1920240"/>
            <a:ext cx="1828800" cy="56007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195681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Method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2423160" y="1920240"/>
            <a:ext cx="1828800" cy="56007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9736" y="195681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PSNR ↑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251960" y="1920240"/>
            <a:ext cx="1828800" cy="56007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195681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SSIM ↑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080760" y="1920240"/>
            <a:ext cx="1828800" cy="56007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95681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SAM ↓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09560" y="1920240"/>
            <a:ext cx="1828800" cy="56007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6136" y="195681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ERGAS ↓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9738360" y="1920240"/>
            <a:ext cx="1828800" cy="56007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74936" y="195681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L1 ↓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94360" y="248031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251688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Simple Average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2423160" y="248031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9736" y="251688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25.2909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4251960" y="248031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88536" y="251688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0.9210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080760" y="248031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251688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1.8843°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909560" y="248031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6136" y="251688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2.2066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9738360" y="248031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74936" y="251688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0.03436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594360" y="3040380"/>
            <a:ext cx="1828800" cy="56007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" y="307695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OOF Adaptive Gate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2423160" y="3040380"/>
            <a:ext cx="1828800" cy="56007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59736" y="307695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25.3204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4251960" y="3040380"/>
            <a:ext cx="1828800" cy="56007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88536" y="307695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0.92119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6080760" y="3040380"/>
            <a:ext cx="1828800" cy="56007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17336" y="307695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1.88268°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7909560" y="3040380"/>
            <a:ext cx="1828800" cy="56007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46136" y="307695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2.1986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9738360" y="3040380"/>
            <a:ext cx="1828800" cy="56007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74936" y="307695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0.03425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594360" y="360045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" y="363702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Correlation-Aware Gate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2423160" y="360045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59736" y="363702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25.3048</a:t>
            </a:r>
            <a:endParaRPr lang="en-US" sz="1550" dirty="0"/>
          </a:p>
        </p:txBody>
      </p:sp>
      <p:sp>
        <p:nvSpPr>
          <p:cNvPr id="51" name="Shape 49"/>
          <p:cNvSpPr/>
          <p:nvPr/>
        </p:nvSpPr>
        <p:spPr>
          <a:xfrm>
            <a:off x="4251960" y="360045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88536" y="363702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0.92106</a:t>
            </a:r>
            <a:endParaRPr lang="en-US" sz="1550" dirty="0"/>
          </a:p>
        </p:txBody>
      </p:sp>
      <p:sp>
        <p:nvSpPr>
          <p:cNvPr id="53" name="Shape 51"/>
          <p:cNvSpPr/>
          <p:nvPr/>
        </p:nvSpPr>
        <p:spPr>
          <a:xfrm>
            <a:off x="6080760" y="360045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17336" y="363702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1.88307°</a:t>
            </a:r>
            <a:endParaRPr lang="en-US" sz="1550" dirty="0"/>
          </a:p>
        </p:txBody>
      </p:sp>
      <p:sp>
        <p:nvSpPr>
          <p:cNvPr id="55" name="Shape 53"/>
          <p:cNvSpPr/>
          <p:nvPr/>
        </p:nvSpPr>
        <p:spPr>
          <a:xfrm>
            <a:off x="7909560" y="360045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46136" y="363702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2.2028</a:t>
            </a:r>
            <a:endParaRPr lang="en-US" sz="1550" dirty="0"/>
          </a:p>
        </p:txBody>
      </p:sp>
      <p:sp>
        <p:nvSpPr>
          <p:cNvPr id="57" name="Shape 55"/>
          <p:cNvSpPr/>
          <p:nvPr/>
        </p:nvSpPr>
        <p:spPr>
          <a:xfrm>
            <a:off x="9738360" y="3600450"/>
            <a:ext cx="1828800" cy="56007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74936" y="3637026"/>
            <a:ext cx="1755648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C2E46"/>
                </a:solidFill>
              </a:rPr>
              <a:t>0.03430</a:t>
            </a:r>
            <a:endParaRPr lang="en-US" sz="1550" dirty="0"/>
          </a:p>
        </p:txBody>
      </p:sp>
      <p:sp>
        <p:nvSpPr>
          <p:cNvPr id="59" name="Text 57"/>
          <p:cNvSpPr/>
          <p:nvPr/>
        </p:nvSpPr>
        <p:spPr>
          <a:xfrm>
            <a:off x="100584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Secondary decision: OOF Adaptive Gate achieved the best SSIM and SAM.</a:t>
            </a:r>
            <a:endParaRPr lang="en-US" sz="2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90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Main Quantitative Findings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models show a clear performance jump over interpolation.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+6.6706 dB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PSNR Gain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HAT vs Bicubic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19202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2.6411 → 1.9107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SAM Reduction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HAT vs Bicubic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95160" y="19202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F28C28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4.7982 → 2.1864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ERGAS Reduction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HAT vs Bicubic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97764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Best Reconstruction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WV3-Transfer HAT: best PSNR, ERGAS, and L1.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24128" y="4142232"/>
            <a:ext cx="54864" cy="90525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97764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Best Balance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OOF Adaptive Gate: best SSIM and SAM.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19088" y="4142232"/>
            <a:ext cx="54864" cy="90525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91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Visual Comparison Placeholder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Use the same test patch for fair visual comparison.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EEF7FF"/>
          </a:solidFill>
          <a:ln w="19050">
            <a:solidFill>
              <a:srgbClr val="F28C28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Bicubic output]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182880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EEF7FF"/>
          </a:solidFill>
          <a:ln w="19050">
            <a:solidFill>
              <a:srgbClr val="276EF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CNN output]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182880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EEF7FF"/>
          </a:solidFill>
          <a:ln w="19050">
            <a:solidFill>
              <a:srgbClr val="21A67A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HAT output]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89520" y="182880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EEF7FF"/>
          </a:solidFill>
          <a:ln w="19050">
            <a:solidFill>
              <a:srgbClr val="7B61FF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OOF adaptive output]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21240" y="182880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EEF7FF"/>
          </a:solidFill>
          <a:ln w="19050">
            <a:solidFill>
              <a:srgbClr val="D84C4C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Ground-truth target]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10607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02A56"/>
                </a:solidFill>
              </a:rPr>
              <a:t>Focus comparison on roof edges, roads, building corners, texture continuity, and color/spectral consistency.</a:t>
            </a:r>
            <a:endParaRPr lang="en-US" sz="1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0972800" cy="5486400"/>
          </a:xfrm>
          <a:prstGeom prst="rect">
            <a:avLst/>
          </a:prstGeom>
          <a:solidFill>
            <a:srgbClr val="163C78">
              <a:alpha val="96000"/>
            </a:srgbClr>
          </a:solidFill>
          <a:ln w="13970">
            <a:solidFill>
              <a:srgbClr val="66B9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60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9FF"/>
                </a:solidFill>
              </a:rPr>
              <a:t>SECTION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Full-Resolution Inference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60120" y="3044952"/>
            <a:ext cx="1645920" cy="73152"/>
          </a:xfrm>
          <a:prstGeom prst="rect">
            <a:avLst/>
          </a:prstGeom>
          <a:solidFill>
            <a:srgbClr val="66B9FF"/>
          </a:solidFill>
          <a:ln w="12700">
            <a:solidFill>
              <a:srgbClr val="66B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2FF"/>
                </a:solidFill>
              </a:rPr>
              <a:t>Applying the selected model to the complete original satellite scene.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44200" y="5376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6B9FF"/>
                </a:solidFill>
              </a:rPr>
              <a:t>92</a:t>
            </a:r>
            <a:endParaRPr lang="en-US" sz="2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FULL RESOLUTION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93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Applying the Model to the Complete Scene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Reduced-resolution testing validates the model; full-resolution inference produces the practical output.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276EF1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6 × 1536 × 1804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Input MS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6EF1"/>
                </a:solidFill>
              </a:rPr>
              <a:t>≈ 1.2 m/pixel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19202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7B61F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1 × 6144 × 7216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Input PAN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≈ 0.3 m/pixel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75320" y="19202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21A67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6 × 6144 × 7216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Output HR-MS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≈ 0.3 m/pixel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80060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Output file: WV3_Transfer_HAT_HRMS_6band_full.tif</a:t>
            </a:r>
            <a:endParaRPr lang="en-US" sz="2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FULL RESOLUTION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94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Why Tiled Inference Was Required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full scene is too large for one standard GPU pass.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Problem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A 6 × 6144 × 7216 output is memory-heavy, especially for a transformer model.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Solution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Process smaller overlapping tiles, then reconstruct the full image.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FULL RESOLUTION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95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Overlapping Tiles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Overlap gives each tile extra spatial context.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548640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Tiles are not processed as isolated blocks.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Neighboring tiles overlap at the borders.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Overlap reduces edge artifacts and missing context.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Every area can be reconstructed with more stable local context.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29400" y="2011680"/>
            <a:ext cx="960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Tile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09560" y="2011680"/>
            <a:ext cx="960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Tile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89720" y="2011680"/>
            <a:ext cx="960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Tile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2971800"/>
            <a:ext cx="960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Tile 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09560" y="2971800"/>
            <a:ext cx="960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Tile 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89720" y="2971800"/>
            <a:ext cx="960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Tile 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3931920"/>
            <a:ext cx="960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Tile 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09560" y="3931920"/>
            <a:ext cx="960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Tile 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89720" y="3931920"/>
            <a:ext cx="960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Tile 9</a:t>
            </a:r>
            <a:endParaRPr lang="en-US" sz="1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FULL RESOLUTION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96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Weighted Blending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Blending reduces visible seams between tiles.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Problem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If tile outputs are stitched directly, boundaries can appear as seams or brightness jumps.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Solution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Use weighted blending so tile centers contribute more than tile borders.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FULL RESOLUTION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97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GeoTIFF Reconstruction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final output remains geographically usable.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548640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Predicted tiles are assembled into one six-band image.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The output keeps the geographic transform and CRS.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The final product can be used in GIS or downstream remote-sensing workflows.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20840" y="2011680"/>
            <a:ext cx="4434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Final Product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WV3_Transfer_HAT_HRMS_6band_full.tif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C2E46"/>
                </a:solidFill>
              </a:rPr>
              <a:t>6 bands • 6144 × 7216 • ≈ 0.3 m/pixel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39128" y="2176272"/>
            <a:ext cx="54864" cy="204825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FULL RESOLUTION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98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Full-Resolution Result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best HAT model was applied to the full scene.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10607040" cy="3429000"/>
          </a:xfrm>
          <a:prstGeom prst="roundRect">
            <a:avLst>
              <a:gd name="adj" fmla="val 2133"/>
            </a:avLst>
          </a:prstGeom>
          <a:solidFill>
            <a:srgbClr val="EEF7FF"/>
          </a:solidFill>
          <a:ln w="19050">
            <a:solidFill>
              <a:srgbClr val="21A67A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Full-resolution HAT output]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577840"/>
            <a:ext cx="10149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28C28"/>
                </a:solidFill>
              </a:rPr>
              <a:t>Reported full-resolution quality is qualitative because no real HR-MS target exists at 0.3 m.</a:t>
            </a:r>
            <a:endParaRPr lang="en-US" sz="1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FULL RESOLUTION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99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Full-Resolution Zoom Comparisons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Insert the strongest regions for visual inspection.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EEF7FF"/>
          </a:solidFill>
          <a:ln w="19050">
            <a:solidFill>
              <a:srgbClr val="276EF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Bicubic | PAN | HAT zoom comparison — Region 1]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43400" y="182880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EEF7FF"/>
          </a:solidFill>
          <a:ln w="19050">
            <a:solidFill>
              <a:srgbClr val="7B61FF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Bicubic | PAN | HAT zoom comparison — Region 2]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92440" y="182880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EEF7FF"/>
          </a:solidFill>
          <a:ln w="19050">
            <a:solidFill>
              <a:srgbClr val="21A67A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Bicubic | PAN | HAT zoom comparison — Region 3]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166360"/>
            <a:ext cx="10607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Use regions with roads, rooftops, building edges, and potential solar panels.</a:t>
            </a:r>
            <a:endParaRPr lang="en-US" sz="2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FULL RESOLUTION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Why Full-Resolution Metrics Were Not Computed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PSNR and SSIM require a true reference image.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057400"/>
            <a:ext cx="3444240" cy="67056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93976"/>
            <a:ext cx="3371088" cy="597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Evaluation Level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58640" y="2057400"/>
            <a:ext cx="3444240" cy="67056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5216" y="2093976"/>
            <a:ext cx="3371088" cy="597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Ground Truth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802880" y="2057400"/>
            <a:ext cx="3444240" cy="67056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9456" y="2093976"/>
            <a:ext cx="3371088" cy="597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Valid Evaluation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400" y="2727960"/>
            <a:ext cx="34442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2764536"/>
            <a:ext cx="3371088" cy="597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Reduced-Resolution Wald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58640" y="2727960"/>
            <a:ext cx="34442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95216" y="2764536"/>
            <a:ext cx="3371088" cy="597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Available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802880" y="2727960"/>
            <a:ext cx="34442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39456" y="2764536"/>
            <a:ext cx="3371088" cy="597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PSNR, SSIM, SAM, ERGAS, L1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14400" y="3398520"/>
            <a:ext cx="3444240" cy="67056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3435096"/>
            <a:ext cx="3371088" cy="597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Full Resolution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58640" y="3398520"/>
            <a:ext cx="3444240" cy="67056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95216" y="3435096"/>
            <a:ext cx="3371088" cy="597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Not available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802880" y="3398520"/>
            <a:ext cx="3444240" cy="67056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39456" y="3435096"/>
            <a:ext cx="3371088" cy="597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Visual and qualitative inspection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05840" y="4983480"/>
            <a:ext cx="10149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28C28"/>
                </a:solidFill>
              </a:rPr>
              <a:t>A real six-band multispectral image at 0.3 m would be required for valid full-resolution quantitative metrics.</a:t>
            </a:r>
            <a:endParaRPr lang="en-US" sz="2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0972800" cy="5486400"/>
          </a:xfrm>
          <a:prstGeom prst="rect">
            <a:avLst/>
          </a:prstGeom>
          <a:solidFill>
            <a:srgbClr val="163C78">
              <a:alpha val="96000"/>
            </a:srgbClr>
          </a:solidFill>
          <a:ln w="13970">
            <a:solidFill>
              <a:srgbClr val="66B9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60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9FF"/>
                </a:solidFill>
              </a:rPr>
              <a:t>SECTION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Sentinel-2 and GAN Benchmark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60120" y="3044952"/>
            <a:ext cx="1645920" cy="73152"/>
          </a:xfrm>
          <a:prstGeom prst="rect">
            <a:avLst/>
          </a:prstGeom>
          <a:solidFill>
            <a:srgbClr val="66B9FF"/>
          </a:solidFill>
          <a:ln w="12700">
            <a:solidFill>
              <a:srgbClr val="66B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2FF"/>
                </a:solidFill>
              </a:rPr>
              <a:t>A separate single-image super-resolution experiment, not PAN-guided pansharpening.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44200" y="5376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6B9FF"/>
                </a:solidFill>
              </a:rPr>
              <a:t>101</a:t>
            </a:r>
            <a:endParaRPr lang="en-US" sz="2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SENTINEL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Separate Sentinel-2 Experiment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This is not the same task as PAN-guided pansharpening.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Current Main Task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MS + PAN → HR-MS. The high-resolution PAN image is used as spatial guidance.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Sentinel Experiment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Sentinel-2 LR input → HR output. No PAN image is used, so it is single-image super-resolution.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SENTINEL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HAT-S2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 HAT-based model adapted for Sentinel-2 single-image super-resolution.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996696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Uses transformer attention to reconstruct higher-resolution Sentinel imagery.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Operates without a PAN image.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Compared against Bicubic and OpenSR-SRGAN.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Evaluated using PSNR, SSIM, and SAM.</a:t>
            </a:r>
            <a:endParaRPr lang="en-US" sz="21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SENTINEL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OpenSR-SRGAN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 GAN uses a generator and discriminator to encourage realistic output.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Generator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Produces a super-resolved image.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084832"/>
            <a:ext cx="54864" cy="181965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92024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Discriminator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Learns to distinguish generated images from real ones.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98848" y="2084832"/>
            <a:ext cx="54864" cy="181965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92024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Trade-Off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GANs may look sharper but can introduce artificial details.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02168" y="2084832"/>
            <a:ext cx="54864" cy="181965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SENTINEL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Adversarial Training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generator and discriminator improve through competition.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LR Input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0" y="3172968"/>
            <a:ext cx="77724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434840" y="274320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Generator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95160" y="3172968"/>
            <a:ext cx="77724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001000" y="274320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Discriminator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89204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28C28"/>
                </a:solidFill>
              </a:rPr>
              <a:t>Benefit: sharper perceived texture. Risk: hallucinated or spectrally inconsistent details.</a:t>
            </a:r>
            <a:endParaRPr lang="en-US" sz="21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SENTINEL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Perceptual Sharpness vs Accuracy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 visually sharp image is not always the most accurate image.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GAN Strength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Can produce sharper-looking textures and more visually realistic detail.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GAN Risk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May generate plausible details that do not match the ground truth or preserve spectra.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SENTINEL 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SEN2NAIP Held-Out Results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On this held-out set, HAT-S2 clearly outperformed Bicubic and OpenSR-SRGAN.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920240"/>
            <a:ext cx="2583180" cy="53721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5681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Model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497580" y="1920240"/>
            <a:ext cx="2583180" cy="53721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4156" y="195681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PSNR ↑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80760" y="1920240"/>
            <a:ext cx="2583180" cy="53721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95681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SSIM ↑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663940" y="1920240"/>
            <a:ext cx="2583180" cy="53721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0516" y="195681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SAM ↓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14400" y="2457450"/>
            <a:ext cx="2583180" cy="53721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249402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Bicubic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497580" y="2457450"/>
            <a:ext cx="2583180" cy="53721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4156" y="249402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9.442688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080760" y="2457450"/>
            <a:ext cx="2583180" cy="53721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249402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0.308025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663940" y="2457450"/>
            <a:ext cx="2583180" cy="53721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00516" y="249402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22.239005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14400" y="2994660"/>
            <a:ext cx="2583180" cy="53721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303123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HAT-S2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3497580" y="2994660"/>
            <a:ext cx="2583180" cy="53721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4156" y="303123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14.122417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080760" y="2994660"/>
            <a:ext cx="2583180" cy="53721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336" y="303123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0.549677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663940" y="2994660"/>
            <a:ext cx="2583180" cy="53721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00516" y="303123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8.349316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914400" y="3531870"/>
            <a:ext cx="2583180" cy="53721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" y="356844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OpenSR-SRGAN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3497580" y="3531870"/>
            <a:ext cx="2583180" cy="53721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34156" y="356844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9.436414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6080760" y="3531870"/>
            <a:ext cx="2583180" cy="53721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17336" y="356844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0.305998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8663940" y="3531870"/>
            <a:ext cx="2583180" cy="53721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00516" y="3568446"/>
            <a:ext cx="2510028" cy="4640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22.260940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1005840" y="502920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Interpretation: HAT-S2 was much stronger on PSNR, SSIM, and SAM for the SEN2NAIP held-out evaluation.</a:t>
            </a:r>
            <a:endParaRPr lang="en-US" sz="2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SENTINEL 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OpenSR Benchmark Results — NAIP and SPOT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OpenSR-SRGAN often improved PSNR, while HAT-S2 preserved spectral angle better.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1844040" cy="5486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186537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Dataset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392680" y="1828800"/>
            <a:ext cx="1844040" cy="5486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9256" y="186537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Model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236720" y="1828800"/>
            <a:ext cx="1844040" cy="5486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3296" y="186537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Images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080760" y="1828800"/>
            <a:ext cx="1844040" cy="5486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86537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PSNR ↑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924800" y="1828800"/>
            <a:ext cx="1844040" cy="5486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61376" y="186537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SSIM ↑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768840" y="1828800"/>
            <a:ext cx="1844040" cy="5486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5416" y="186537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SAM ↓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237744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241401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NAIP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2392680" y="237744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9256" y="241401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HAT-S2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236720" y="237744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3296" y="241401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62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80760" y="237744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241401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18.900688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924800" y="237744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61376" y="241401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0.681201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9768840" y="237744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05416" y="241401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26.114998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548640" y="292608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" y="296265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NAIP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2392680" y="292608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29256" y="296265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OpenSR-SRGAN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4236720" y="292608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3296" y="296265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62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080760" y="292608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17336" y="296265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20.702702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7924800" y="292608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61376" y="296265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0.724517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9768840" y="292608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05416" y="296265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26.839064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548640" y="347472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" y="351129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SPOT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2392680" y="347472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29256" y="351129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HAT-S2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4236720" y="347472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73296" y="351129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9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6080760" y="347472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17336" y="351129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18.550194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7924800" y="347472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61376" y="351129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0.697594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9768840" y="347472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05416" y="351129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19.808377</a:t>
            </a:r>
            <a:endParaRPr lang="en-US" sz="1450" dirty="0"/>
          </a:p>
        </p:txBody>
      </p:sp>
      <p:sp>
        <p:nvSpPr>
          <p:cNvPr id="59" name="Shape 57"/>
          <p:cNvSpPr/>
          <p:nvPr/>
        </p:nvSpPr>
        <p:spPr>
          <a:xfrm>
            <a:off x="548640" y="402336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5216" y="405993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SPOT</a:t>
            </a:r>
            <a:endParaRPr lang="en-US" sz="1450" dirty="0"/>
          </a:p>
        </p:txBody>
      </p:sp>
      <p:sp>
        <p:nvSpPr>
          <p:cNvPr id="61" name="Shape 59"/>
          <p:cNvSpPr/>
          <p:nvPr/>
        </p:nvSpPr>
        <p:spPr>
          <a:xfrm>
            <a:off x="2392680" y="402336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29256" y="405993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OpenSR-SRGAN</a:t>
            </a:r>
            <a:endParaRPr lang="en-US" sz="1450" dirty="0"/>
          </a:p>
        </p:txBody>
      </p:sp>
      <p:sp>
        <p:nvSpPr>
          <p:cNvPr id="63" name="Shape 61"/>
          <p:cNvSpPr/>
          <p:nvPr/>
        </p:nvSpPr>
        <p:spPr>
          <a:xfrm>
            <a:off x="4236720" y="402336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73296" y="405993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9</a:t>
            </a:r>
            <a:endParaRPr lang="en-US" sz="1450" dirty="0"/>
          </a:p>
        </p:txBody>
      </p:sp>
      <p:sp>
        <p:nvSpPr>
          <p:cNvPr id="65" name="Shape 63"/>
          <p:cNvSpPr/>
          <p:nvPr/>
        </p:nvSpPr>
        <p:spPr>
          <a:xfrm>
            <a:off x="6080760" y="402336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17336" y="405993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20.680418</a:t>
            </a:r>
            <a:endParaRPr lang="en-US" sz="1450" dirty="0"/>
          </a:p>
        </p:txBody>
      </p:sp>
      <p:sp>
        <p:nvSpPr>
          <p:cNvPr id="67" name="Shape 65"/>
          <p:cNvSpPr/>
          <p:nvPr/>
        </p:nvSpPr>
        <p:spPr>
          <a:xfrm>
            <a:off x="7924800" y="402336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61376" y="405993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0.689537</a:t>
            </a:r>
            <a:endParaRPr lang="en-US" sz="1450" dirty="0"/>
          </a:p>
        </p:txBody>
      </p:sp>
      <p:sp>
        <p:nvSpPr>
          <p:cNvPr id="69" name="Shape 67"/>
          <p:cNvSpPr/>
          <p:nvPr/>
        </p:nvSpPr>
        <p:spPr>
          <a:xfrm>
            <a:off x="9768840" y="402336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805416" y="405993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22.205311</a:t>
            </a:r>
            <a:endParaRPr lang="en-US" sz="14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SENTINEL 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OpenSR Benchmark Results — Crops and Urban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benchmark shows different quality trade-offs across datasets.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1844040" cy="5486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186537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Dataset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392680" y="1828800"/>
            <a:ext cx="1844040" cy="5486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9256" y="186537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Model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236720" y="1828800"/>
            <a:ext cx="1844040" cy="5486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3296" y="186537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Images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080760" y="1828800"/>
            <a:ext cx="1844040" cy="5486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86537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PSNR ↑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924800" y="1828800"/>
            <a:ext cx="1844040" cy="5486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61376" y="186537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SSIM ↑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768840" y="1828800"/>
            <a:ext cx="1844040" cy="548640"/>
          </a:xfrm>
          <a:prstGeom prst="rect">
            <a:avLst/>
          </a:prstGeom>
          <a:solidFill>
            <a:srgbClr val="102A56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5416" y="186537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SAM ↓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237744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241401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Spain Crops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2392680" y="237744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9256" y="241401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HAT-S2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236720" y="237744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3296" y="241401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28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80760" y="237744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241401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18.895477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924800" y="237744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61376" y="241401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0.646155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9768840" y="237744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05416" y="241401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26.349029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548640" y="292608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" y="296265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Spain Crops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2392680" y="292608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29256" y="296265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OpenSR-SRGAN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4236720" y="292608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3296" y="296265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28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080760" y="292608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17336" y="296265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19.989611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7924800" y="292608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61376" y="296265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0.676868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9768840" y="292608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05416" y="296265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28.020395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548640" y="347472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" y="351129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Spain Urban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2392680" y="347472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29256" y="351129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HAT-S2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4236720" y="347472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73296" y="351129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20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6080760" y="347472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17336" y="351129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18.760209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7924800" y="347472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61376" y="351129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0.550283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9768840" y="3474720"/>
            <a:ext cx="1844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05416" y="351129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24.030232</a:t>
            </a:r>
            <a:endParaRPr lang="en-US" sz="1450" dirty="0"/>
          </a:p>
        </p:txBody>
      </p:sp>
      <p:sp>
        <p:nvSpPr>
          <p:cNvPr id="59" name="Shape 57"/>
          <p:cNvSpPr/>
          <p:nvPr/>
        </p:nvSpPr>
        <p:spPr>
          <a:xfrm>
            <a:off x="548640" y="402336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5216" y="405993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Spain Urban</a:t>
            </a:r>
            <a:endParaRPr lang="en-US" sz="1450" dirty="0"/>
          </a:p>
        </p:txBody>
      </p:sp>
      <p:sp>
        <p:nvSpPr>
          <p:cNvPr id="61" name="Shape 59"/>
          <p:cNvSpPr/>
          <p:nvPr/>
        </p:nvSpPr>
        <p:spPr>
          <a:xfrm>
            <a:off x="2392680" y="402336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29256" y="405993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OpenSR-SRGAN</a:t>
            </a:r>
            <a:endParaRPr lang="en-US" sz="1450" dirty="0"/>
          </a:p>
        </p:txBody>
      </p:sp>
      <p:sp>
        <p:nvSpPr>
          <p:cNvPr id="63" name="Shape 61"/>
          <p:cNvSpPr/>
          <p:nvPr/>
        </p:nvSpPr>
        <p:spPr>
          <a:xfrm>
            <a:off x="4236720" y="402336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73296" y="405993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20</a:t>
            </a:r>
            <a:endParaRPr lang="en-US" sz="1450" dirty="0"/>
          </a:p>
        </p:txBody>
      </p:sp>
      <p:sp>
        <p:nvSpPr>
          <p:cNvPr id="65" name="Shape 63"/>
          <p:cNvSpPr/>
          <p:nvPr/>
        </p:nvSpPr>
        <p:spPr>
          <a:xfrm>
            <a:off x="6080760" y="402336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17336" y="405993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20.839804</a:t>
            </a:r>
            <a:endParaRPr lang="en-US" sz="1450" dirty="0"/>
          </a:p>
        </p:txBody>
      </p:sp>
      <p:sp>
        <p:nvSpPr>
          <p:cNvPr id="67" name="Shape 65"/>
          <p:cNvSpPr/>
          <p:nvPr/>
        </p:nvSpPr>
        <p:spPr>
          <a:xfrm>
            <a:off x="7924800" y="402336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61376" y="405993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0.575854</a:t>
            </a:r>
            <a:endParaRPr lang="en-US" sz="1450" dirty="0"/>
          </a:p>
        </p:txBody>
      </p:sp>
      <p:sp>
        <p:nvSpPr>
          <p:cNvPr id="69" name="Shape 67"/>
          <p:cNvSpPr/>
          <p:nvPr/>
        </p:nvSpPr>
        <p:spPr>
          <a:xfrm>
            <a:off x="9768840" y="4023360"/>
            <a:ext cx="184404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6F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805416" y="4059936"/>
            <a:ext cx="17708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E46"/>
                </a:solidFill>
              </a:rPr>
              <a:t>25.198638</a:t>
            </a:r>
            <a:endParaRPr lang="en-US" sz="14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SENTINEL 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Interpreting the Sentinel Results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winner depends on what quality dimension matters most.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Held-Out SEN2NAIP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HAT-S2 clearly won on PSNR, SSIM, and SAM.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" y="1993392"/>
            <a:ext cx="54864" cy="19568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OpenSR PSNR/SSIM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OpenSR-SRGAN had higher PSNR on all listed OpenSR subsets and higher SSIM on most.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07408" y="1993392"/>
            <a:ext cx="54864" cy="19568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Spectral Angle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E46"/>
                </a:solidFill>
              </a:rPr>
              <a:t>HAT-S2 had lower SAM on all listed OpenSR subsets.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19288" y="1993392"/>
            <a:ext cx="54864" cy="195681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SENTINEL 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Sentinel Visual Comparison Placeholder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Use the same Sentinel patch for a fair visual comparison.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10607040" cy="3429000"/>
          </a:xfrm>
          <a:prstGeom prst="roundRect">
            <a:avLst>
              <a:gd name="adj" fmla="val 2133"/>
            </a:avLst>
          </a:prstGeom>
          <a:solidFill>
            <a:srgbClr val="EEF7FF"/>
          </a:solidFill>
          <a:ln w="19050">
            <a:solidFill>
              <a:srgbClr val="276EF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Sentinel HAT-S2 vs OpenSR-SRGAN result]</a:t>
            </a:r>
            <a:endParaRPr lang="en-US" sz="15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0972800" cy="5486400"/>
          </a:xfrm>
          <a:prstGeom prst="rect">
            <a:avLst/>
          </a:prstGeom>
          <a:solidFill>
            <a:srgbClr val="163C78">
              <a:alpha val="96000"/>
            </a:srgbClr>
          </a:solidFill>
          <a:ln w="13970">
            <a:solidFill>
              <a:srgbClr val="66B9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60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9FF"/>
                </a:solidFill>
              </a:rPr>
              <a:t>SECTION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Limitations, Future Work, and Conclusion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60120" y="3044952"/>
            <a:ext cx="1645920" cy="73152"/>
          </a:xfrm>
          <a:prstGeom prst="rect">
            <a:avLst/>
          </a:prstGeom>
          <a:solidFill>
            <a:srgbClr val="66B9FF"/>
          </a:solidFill>
          <a:ln w="12700">
            <a:solidFill>
              <a:srgbClr val="66B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2FF"/>
                </a:solidFill>
              </a:rPr>
              <a:t>What the current results prove, what they do not prove, and what comes next.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44200" y="5376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6B9FF"/>
                </a:solidFill>
              </a:rPr>
              <a:t>112</a:t>
            </a:r>
            <a:endParaRPr lang="en-US" sz="2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LIMITATIONS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Study Limitations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conclusions must be stated carefully.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10515600" cy="3794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50" dirty="0">
                <a:solidFill>
                  <a:srgbClr val="1C2E46"/>
                </a:solidFill>
              </a:rPr>
              <a:t>One main local geographic scene.</a:t>
            </a:r>
            <a:endParaRPr lang="en-US" sz="1850" dirty="0"/>
          </a:p>
          <a:p>
            <a:r>
              <a:rPr lang="en-US" sz="1850" dirty="0">
                <a:solidFill>
                  <a:srgbClr val="1C2E46"/>
                </a:solidFill>
              </a:rPr>
              <a:t>Small local training set: 231 training patches.</a:t>
            </a:r>
            <a:endParaRPr lang="en-US" sz="1850" dirty="0"/>
          </a:p>
          <a:p>
            <a:r>
              <a:rPr lang="en-US" sz="1850" dirty="0">
                <a:solidFill>
                  <a:srgbClr val="1C2E46"/>
                </a:solidFill>
              </a:rPr>
              <a:t>Small final test set: 22 spatially separated patches.</a:t>
            </a:r>
            <a:endParaRPr lang="en-US" sz="1850" dirty="0"/>
          </a:p>
          <a:p>
            <a:r>
              <a:rPr lang="en-US" sz="1850" dirty="0">
                <a:solidFill>
                  <a:srgbClr val="1C2E46"/>
                </a:solidFill>
              </a:rPr>
              <a:t>No real full-resolution six-band MS ground truth at 0.3 m.</a:t>
            </a:r>
            <a:endParaRPr lang="en-US" sz="1850" dirty="0"/>
          </a:p>
          <a:p>
            <a:r>
              <a:rPr lang="en-US" sz="1850" dirty="0">
                <a:solidFill>
                  <a:srgbClr val="1C2E46"/>
                </a:solidFill>
              </a:rPr>
              <a:t>Wald degradation is synthetic and may differ from real sensor degradation.</a:t>
            </a:r>
            <a:endParaRPr lang="en-US" sz="1850" dirty="0"/>
          </a:p>
          <a:p>
            <a:r>
              <a:rPr lang="en-US" sz="1850" dirty="0">
                <a:solidFill>
                  <a:srgbClr val="1C2E46"/>
                </a:solidFill>
              </a:rPr>
              <a:t>Possible residual sub-pixel PAN–MS misalignment.</a:t>
            </a:r>
            <a:endParaRPr lang="en-US" sz="1850" dirty="0"/>
          </a:p>
          <a:p>
            <a:r>
              <a:rPr lang="en-US" sz="1850" dirty="0">
                <a:solidFill>
                  <a:srgbClr val="1C2E46"/>
                </a:solidFill>
              </a:rPr>
              <a:t>Transformer inference is computationally expensive.</a:t>
            </a:r>
            <a:endParaRPr lang="en-US" sz="18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LIMITATIONS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What We Can and Cannot Claim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Strong results within the protocol are not the same as universal superiority.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Can Claim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WV3-Transfer HAT achieved the best overall reconstruction on the local Wald test set among the implemented models.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D84C4C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Cannot Claim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Universal state-of-the-art performance across all sensors, datasets, and full-resolution ground-truth conditions.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D84C4C"/>
          </a:solidFill>
          <a:ln w="12700">
            <a:solidFill>
              <a:srgbClr val="D84C4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FUTURE WORK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Future Work — Longer HAT Pretraining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More source-domain training may improve transfer quality.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1005840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Continue WorldView-3 HAT pretraining for 150–300 epochs.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Use validation performance to select the best checkpoint.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Transfer the stronger source model again to the local six-band dataset.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Stop if validation performance plateaus to avoid wasting training time.</a:t>
            </a:r>
            <a:endParaRPr lang="en-US" sz="21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FUTURE WORK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Future Work — ARNet Comparison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ARNet may help with directional and rectangular spatial structures.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Why It May Help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Adaptive rectangular convolutions can model roads, roofs, and linear structures better than fixed square kernels.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" y="2130552"/>
            <a:ext cx="54864" cy="24140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Fair Test Needed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C2E46"/>
                </a:solidFill>
              </a:rPr>
              <a:t>ARNet should be pretrained on a large dataset, transferred to six bands, and compared using the same split and metrics.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73368" y="2130552"/>
            <a:ext cx="54864" cy="2414016"/>
          </a:xfrm>
          <a:prstGeom prst="rect">
            <a:avLst/>
          </a:prstGeom>
          <a:solidFill>
            <a:srgbClr val="21A67A"/>
          </a:solidFill>
          <a:ln w="12700">
            <a:solidFill>
              <a:srgbClr val="21A67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FUTURE WORK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Future Work — Misalignment-Robust Training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Real MS and PAN images can contain small registration errors.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1005840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Introduce controlled PAN shifts during training.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Test ±1 or ±2 pixel shifts.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Possibly include band-wise MS shifts.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Evaluate whether this improves full-resolution visual quality and spectral metrics.</a:t>
            </a:r>
            <a:endParaRPr lang="en-US" sz="21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FUTURE WORK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Future Work — Solar Panel Detection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final value of super-resolution should be tested on a downstream task.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Original 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2852928"/>
            <a:ext cx="64008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160520" y="24231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21A67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HAT SR Output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12280" y="2852928"/>
            <a:ext cx="64008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680960" y="2423160"/>
            <a:ext cx="2743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F28C28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56"/>
                </a:solidFill>
              </a:rPr>
              <a:t>Solar Panel Detector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663440"/>
            <a:ext cx="102412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A56"/>
                </a:solidFill>
              </a:rPr>
              <a:t>Compare detection using Original MS, Bicubic MS, and HAT HR-MS. Metrics: Precision, Recall, F1, mAP, and IoU.</a:t>
            </a:r>
            <a:endParaRPr lang="en-US" sz="2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FUTURE WORK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Future Research Roadmap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next stage should focus on generalization and downstream value.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</a:rPr>
              <a:t>More WV3 Training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148840" y="3136392"/>
            <a:ext cx="27432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514600" y="274320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</a:rPr>
              <a:t>More Scenes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23360" y="3136392"/>
            <a:ext cx="27432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389120" y="274320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</a:rPr>
              <a:t>ARNet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97880" y="3136392"/>
            <a:ext cx="27432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263640" y="274320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</a:rPr>
              <a:t>Robust Alignment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0" y="3136392"/>
            <a:ext cx="27432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138160" y="274320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276EF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</a:rPr>
              <a:t>Sentinel Benchmark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46920" y="3136392"/>
            <a:ext cx="274320" cy="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012680" y="274320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7B61F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</a:rPr>
              <a:t>Solar Detection</a:t>
            </a:r>
            <a:endParaRPr lang="en-US" sz="11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2A56"/>
                </a:solidFill>
              </a:rPr>
              <a:t>HOME     DATA     METHODS    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01000" y="219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SATELLITE SUPER-RESOLUTION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201400" cy="0"/>
          </a:xfrm>
          <a:prstGeom prst="line">
            <a:avLst/>
          </a:prstGeom>
          <a:noFill/>
          <a:ln w="15240">
            <a:solidFill>
              <a:srgbClr val="D9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382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6EF1"/>
                </a:solidFill>
              </a:rPr>
              <a:t>CONCLUSION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56"/>
                </a:solidFill>
              </a:rPr>
              <a:t>Final Conclusion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1426464"/>
            <a:ext cx="1243584" cy="64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748F"/>
                </a:solidFill>
              </a:rPr>
              <a:t>The project produced a complete and practical satellite super-resolution pipeline.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103327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1C2E46"/>
                </a:solidFill>
              </a:rPr>
              <a:t>Alignment and Wald data preparation enabled valid reduced-resolution training.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Fusion CNN strongly improved over Bicubic interpolation.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WV3-Transfer HAT achieved the best overall reconstruction.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OOF Adaptive Gate achieved the best SSIM and SAM.</a:t>
            </a:r>
            <a:endParaRPr lang="en-US" sz="2100" dirty="0"/>
          </a:p>
          <a:p>
            <a:r>
              <a:rPr lang="en-US" sz="2100" dirty="0">
                <a:solidFill>
                  <a:srgbClr val="1C2E46"/>
                </a:solidFill>
              </a:rPr>
              <a:t>The final output was a six-band HR-MS GeoTIFF at approximately 0.3 m/pixel.</a:t>
            </a:r>
            <a:endParaRPr lang="en-US" sz="21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430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2148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F2FF"/>
                </a:solidFill>
              </a:rPr>
              <a:t>Satellite Image Super-Resolution and Pansharpening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2788920"/>
            <a:ext cx="1508760" cy="82296"/>
          </a:xfrm>
          <a:prstGeom prst="rect">
            <a:avLst/>
          </a:prstGeom>
          <a:solidFill>
            <a:srgbClr val="66B9FF"/>
          </a:solidFill>
          <a:ln w="12700">
            <a:solidFill>
              <a:srgbClr val="66B9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337560"/>
            <a:ext cx="65836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takeaway: PAN-guided HAT transfer learning improved spatial detail while preserving multispectral consistency under a validated reduced-resolution protocol.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09560" y="132588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EEF7FF"/>
          </a:solidFill>
          <a:ln w="19050">
            <a:solidFill>
              <a:srgbClr val="66B9FF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56"/>
                </a:solidFill>
              </a:rPr>
              <a:t>[INSERT PROJECT IMAGE: Final best visual comparison]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5349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4F2FF"/>
                </a:solidFill>
              </a:rPr>
              <a:t>Final Product: 6-band HR-MS GeoTIFF at approximately 0.3 m/pixel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0185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EF1"/>
                </a:solidFill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121</Slides>
  <Notes>121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Satellite Image Super-Resolution and Pansharpening - Detailed Explanation</dc:title>
  <dc:subject>Detailed Satellite Image Super-Resolution Explainer</dc:subject>
  <dc:creator>OpenAI</dc:creator>
  <cp:lastModifiedBy>OpenAI</cp:lastModifiedBy>
  <cp:revision>1</cp:revision>
  <dcterms:created xsi:type="dcterms:W3CDTF">2026-08-01T22:59:48Z</dcterms:created>
  <dcterms:modified xsi:type="dcterms:W3CDTF">2026-08-01T22:59:48Z</dcterms:modified>
</cp:coreProperties>
</file>